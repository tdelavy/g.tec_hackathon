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7"/>
    <p:restoredTop sz="94610"/>
  </p:normalViewPr>
  <p:slideViewPr>
    <p:cSldViewPr snapToGrid="0" snapToObjects="1">
      <p:cViewPr varScale="1">
        <p:scale>
          <a:sx n="128" d="100"/>
          <a:sy n="128" d="100"/>
        </p:scale>
        <p:origin x="176"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270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framing the project as a rehabilitation feedback problem, not only a model accuracy problem. The strongest message is that the classifier determines whether feedback is delivered correctly during BCI-FES therapy.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line early and repeat it later. The judges need to understand why left/right motor imagery classification matters for rehabilitation.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ideal order for your final deck. The judge should first understand the clinical problem, then see evidence, then understand why your evidence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minimal. It should give the judges the reason to care. Use one big line, one loop diagram, and one short sentence.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uploaded DatasetInformation.pdf. It states that patients have 25 sessions, only first PRE and last POST are available, each session has TRAINING and TEST runs, each with EEG recordings and 80 trials shown in the diagram.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should be able to repeat your research question after this slide. The best question links decoding, PRE-POST change, and rehabilitation feedback.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method slide: state your baseline, your improved variants, and the validation split. Emphasize that training is done on TRAINING and performance is evaluated on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slide should have one headline that summarizes what changed. Use accuracy bars, a significance marker, and a short interpretation. If the result did not improve, be honest and explain reliability or calibration issues.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at least one interpretability plot. A confusion matrix is mandatory; a time-resolved accuracy plot or channel contribution map is a strong differentiator.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card is an excellent differentiator. It translates results into actions: recalibrate, continue therapy, improve feature extraction, or deploy feedback.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Gruenwald et al. 2019. The paper argues that standard LDA is static and not suited to exploit transient high-gamma information; TVLDA extends LDA to time-varying features and includes intrinsic feature reduction. It also reports that whitening improved classification performance in their ECoG datasets. Make clear that your dataset is EEG, so this is methodological inspiration, not a direct benchmark.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ladder as your checklist. If your final presentation includes all five levels, it will feel much more mature than a simple classifier comparison.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strongest sentence, then stop. Do not add another technical slide after your conclusion. Put limitations in backup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only if asked. The main deck should not get bogged down by citation detail. Mention the dataset information PDF and Gruenwald et al. 2019 as the two key references.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alpha val="0"/>
              </a:srgbClr>
            </a:solidFill>
            <a:prstDash val="solid"/>
          </a:ln>
        </p:spPr>
      </p:sp>
      <p:sp>
        <p:nvSpPr>
          <p:cNvPr id="3" name="Shape 1"/>
          <p:cNvSpPr/>
          <p:nvPr/>
        </p:nvSpPr>
        <p:spPr>
          <a:xfrm>
            <a:off x="0" y="6565392"/>
            <a:ext cx="12191695" cy="292608"/>
          </a:xfrm>
          <a:prstGeom prst="rect">
            <a:avLst/>
          </a:prstGeom>
          <a:solidFill>
            <a:srgbClr val="0B1F33"/>
          </a:solidFill>
          <a:ln w="12700">
            <a:solidFill>
              <a:srgbClr val="0B1F33"/>
            </a:solidFill>
            <a:prstDash val="solid"/>
          </a:ln>
        </p:spPr>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411480"/>
            <a:ext cx="3474720" cy="256032"/>
          </a:xfrm>
          <a:prstGeom prst="rect">
            <a:avLst/>
          </a:prstGeom>
          <a:noFill/>
          <a:ln/>
        </p:spPr>
        <p:txBody>
          <a:bodyPr wrap="square" lIns="0" tIns="0" rIns="0" bIns="0" rtlCol="0" anchor="ctr">
            <a:normAutofit/>
          </a:bodyPr>
          <a:lstStyle/>
          <a:p>
            <a:pPr marL="0" indent="0">
              <a:buNone/>
            </a:pPr>
            <a:r>
              <a:rPr lang="en-US" sz="900" b="1" dirty="0">
                <a:solidFill>
                  <a:srgbClr val="0E7C7B"/>
                </a:solidFill>
              </a:rPr>
              <a:t>POWERPOINT GUIDE</a:t>
            </a:r>
            <a:endParaRPr lang="en-US" sz="900" dirty="0"/>
          </a:p>
        </p:txBody>
      </p:sp>
      <p:sp>
        <p:nvSpPr>
          <p:cNvPr id="3" name="Text 1"/>
          <p:cNvSpPr/>
          <p:nvPr/>
        </p:nvSpPr>
        <p:spPr>
          <a:xfrm>
            <a:off x="594360" y="868680"/>
            <a:ext cx="5669280" cy="1463040"/>
          </a:xfrm>
          <a:prstGeom prst="rect">
            <a:avLst/>
          </a:prstGeom>
          <a:noFill/>
          <a:ln/>
        </p:spPr>
        <p:txBody>
          <a:bodyPr wrap="square" lIns="0" tIns="0" rIns="0" bIns="0" rtlCol="0" anchor="ctr">
            <a:normAutofit/>
          </a:bodyPr>
          <a:lstStyle/>
          <a:p>
            <a:pPr marL="0" indent="0">
              <a:buNone/>
            </a:pPr>
            <a:r>
              <a:rPr lang="en-US" sz="4200" b="1" dirty="0">
                <a:solidFill>
                  <a:srgbClr val="0B1F33"/>
                </a:solidFill>
                <a:latin typeface="Aptos Display" pitchFamily="34" charset="0"/>
                <a:ea typeface="Aptos Display" pitchFamily="34" charset="-122"/>
                <a:cs typeface="Aptos Display" pitchFamily="34" charset="-120"/>
              </a:rPr>
              <a:t>Stroke Rehab BCI</a:t>
            </a:r>
            <a:endParaRPr lang="en-US" sz="4200" dirty="0"/>
          </a:p>
          <a:p>
            <a:pPr marL="0" indent="0">
              <a:buNone/>
            </a:pPr>
            <a:r>
              <a:rPr lang="en-US" sz="4200" b="1" dirty="0">
                <a:solidFill>
                  <a:srgbClr val="0B1F33"/>
                </a:solidFill>
                <a:latin typeface="Aptos Display" pitchFamily="34" charset="0"/>
                <a:ea typeface="Aptos Display" pitchFamily="34" charset="-122"/>
                <a:cs typeface="Aptos Display" pitchFamily="34" charset="-120"/>
              </a:rPr>
              <a:t>Hackathon Deck</a:t>
            </a:r>
            <a:endParaRPr lang="en-US" sz="4200" dirty="0"/>
          </a:p>
        </p:txBody>
      </p:sp>
      <p:sp>
        <p:nvSpPr>
          <p:cNvPr id="4" name="Text 2"/>
          <p:cNvSpPr/>
          <p:nvPr/>
        </p:nvSpPr>
        <p:spPr>
          <a:xfrm>
            <a:off x="640080" y="2542032"/>
            <a:ext cx="5212080" cy="777240"/>
          </a:xfrm>
          <a:prstGeom prst="rect">
            <a:avLst/>
          </a:prstGeom>
          <a:noFill/>
          <a:ln/>
        </p:spPr>
        <p:txBody>
          <a:bodyPr wrap="square" lIns="254" tIns="254" rIns="254" bIns="254" rtlCol="0" anchor="ctr">
            <a:normAutofit/>
          </a:bodyPr>
          <a:lstStyle/>
          <a:p>
            <a:pPr marL="0" indent="0">
              <a:buNone/>
            </a:pPr>
            <a:r>
              <a:rPr lang="en-US" sz="1900" dirty="0">
                <a:solidFill>
                  <a:srgbClr val="4B5563"/>
                </a:solidFill>
              </a:rPr>
              <a:t>A slide-by-slide guide to turn strong model accuracy into a clinical-impact story.</a:t>
            </a:r>
            <a:endParaRPr lang="en-US" sz="1900" dirty="0"/>
          </a:p>
        </p:txBody>
      </p:sp>
      <p:sp>
        <p:nvSpPr>
          <p:cNvPr id="5" name="Shape 3"/>
          <p:cNvSpPr/>
          <p:nvPr/>
        </p:nvSpPr>
        <p:spPr>
          <a:xfrm>
            <a:off x="8092440" y="1143000"/>
            <a:ext cx="914400" cy="548640"/>
          </a:xfrm>
          <a:prstGeom prst="ellipse">
            <a:avLst/>
          </a:prstGeom>
          <a:solidFill>
            <a:srgbClr val="0E7C7B"/>
          </a:solidFill>
          <a:ln w="12700">
            <a:solidFill>
              <a:srgbClr val="0E7C7B"/>
            </a:solidFill>
            <a:prstDash val="solid"/>
          </a:ln>
        </p:spPr>
        <p:txBody>
          <a:bodyPr/>
          <a:lstStyle/>
          <a:p>
            <a:endParaRPr lang="en-US"/>
          </a:p>
        </p:txBody>
      </p:sp>
      <p:sp>
        <p:nvSpPr>
          <p:cNvPr id="6" name="Text 4"/>
          <p:cNvSpPr/>
          <p:nvPr/>
        </p:nvSpPr>
        <p:spPr>
          <a:xfrm>
            <a:off x="8165592" y="1280160"/>
            <a:ext cx="76809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EEG</a:t>
            </a:r>
            <a:endParaRPr lang="en-US" sz="1300" dirty="0"/>
          </a:p>
        </p:txBody>
      </p:sp>
      <p:sp>
        <p:nvSpPr>
          <p:cNvPr id="8" name="Text 6"/>
          <p:cNvSpPr/>
          <p:nvPr/>
        </p:nvSpPr>
        <p:spPr>
          <a:xfrm>
            <a:off x="10177272" y="3108960"/>
            <a:ext cx="95097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AI</a:t>
            </a:r>
            <a:endParaRPr lang="en-US" sz="1300" dirty="0"/>
          </a:p>
        </p:txBody>
      </p:sp>
      <p:sp>
        <p:nvSpPr>
          <p:cNvPr id="9" name="Shape 7"/>
          <p:cNvSpPr/>
          <p:nvPr/>
        </p:nvSpPr>
        <p:spPr>
          <a:xfrm>
            <a:off x="8001000" y="4892040"/>
            <a:ext cx="1097280" cy="548640"/>
          </a:xfrm>
          <a:prstGeom prst="ellipse">
            <a:avLst/>
          </a:prstGeom>
          <a:solidFill>
            <a:srgbClr val="FF6B5A"/>
          </a:solidFill>
          <a:ln w="12700">
            <a:solidFill>
              <a:srgbClr val="FF6B5A"/>
            </a:solidFill>
            <a:prstDash val="solid"/>
          </a:ln>
        </p:spPr>
        <p:txBody>
          <a:bodyPr/>
          <a:lstStyle/>
          <a:p>
            <a:endParaRPr lang="en-US"/>
          </a:p>
        </p:txBody>
      </p:sp>
      <p:sp>
        <p:nvSpPr>
          <p:cNvPr id="10" name="Text 8"/>
          <p:cNvSpPr/>
          <p:nvPr/>
        </p:nvSpPr>
        <p:spPr>
          <a:xfrm>
            <a:off x="8074152" y="5029200"/>
            <a:ext cx="95097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FES</a:t>
            </a:r>
            <a:endParaRPr lang="en-US" sz="1300" dirty="0"/>
          </a:p>
        </p:txBody>
      </p:sp>
      <p:sp>
        <p:nvSpPr>
          <p:cNvPr id="11" name="Shape 9"/>
          <p:cNvSpPr/>
          <p:nvPr/>
        </p:nvSpPr>
        <p:spPr>
          <a:xfrm>
            <a:off x="5897880" y="2971800"/>
            <a:ext cx="1188720" cy="548640"/>
          </a:xfrm>
          <a:prstGeom prst="ellipse">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5971032" y="3108960"/>
            <a:ext cx="104241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REHAB</a:t>
            </a:r>
            <a:endParaRPr lang="en-US" sz="1300" dirty="0"/>
          </a:p>
        </p:txBody>
      </p:sp>
      <p:sp>
        <p:nvSpPr>
          <p:cNvPr id="15" name="Shape 13"/>
          <p:cNvSpPr/>
          <p:nvPr/>
        </p:nvSpPr>
        <p:spPr>
          <a:xfrm>
            <a:off x="8138160" y="5102352"/>
            <a:ext cx="0" cy="0"/>
          </a:xfrm>
          <a:prstGeom prst="line">
            <a:avLst/>
          </a:prstGeom>
          <a:noFill/>
          <a:ln w="50800">
            <a:solidFill>
              <a:srgbClr val="E5E7EB"/>
            </a:solidFill>
            <a:prstDash val="solid"/>
            <a:headEnd type="none"/>
            <a:tailEnd type="triangle"/>
          </a:ln>
        </p:spPr>
        <p:txBody>
          <a:bodyPr/>
          <a:lstStyle/>
          <a:p>
            <a:endParaRPr lang="en-US"/>
          </a:p>
        </p:txBody>
      </p:sp>
      <p:sp>
        <p:nvSpPr>
          <p:cNvPr id="17" name="Text 15"/>
          <p:cNvSpPr/>
          <p:nvPr/>
        </p:nvSpPr>
        <p:spPr>
          <a:xfrm>
            <a:off x="7360920" y="2788920"/>
            <a:ext cx="2377440" cy="841248"/>
          </a:xfrm>
          <a:prstGeom prst="rect">
            <a:avLst/>
          </a:prstGeom>
          <a:noFill/>
          <a:ln/>
        </p:spPr>
        <p:txBody>
          <a:bodyPr wrap="square" lIns="254" tIns="254" rIns="254" bIns="254" rtlCol="0" anchor="ctr">
            <a:normAutofit/>
          </a:bodyPr>
          <a:lstStyle/>
          <a:p>
            <a:pPr marL="0" indent="0" algn="ctr">
              <a:buNone/>
            </a:pPr>
            <a:r>
              <a:rPr lang="en-US" sz="2300" b="1" dirty="0">
                <a:solidFill>
                  <a:srgbClr val="0B1F33"/>
                </a:solidFill>
              </a:rPr>
              <a:t>from classifier</a:t>
            </a:r>
            <a:endParaRPr lang="en-US" sz="2300" dirty="0"/>
          </a:p>
          <a:p>
            <a:pPr marL="0" indent="0" algn="ctr">
              <a:buNone/>
            </a:pPr>
            <a:r>
              <a:rPr lang="en-US" sz="2300" b="1" dirty="0">
                <a:solidFill>
                  <a:srgbClr val="0B1F33"/>
                </a:solidFill>
              </a:rPr>
              <a:t>to feedback loop</a:t>
            </a:r>
            <a:endParaRPr lang="en-US" sz="2300" dirty="0"/>
          </a:p>
        </p:txBody>
      </p:sp>
      <p:sp>
        <p:nvSpPr>
          <p:cNvPr id="18" name="Text 16"/>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Use this deck as a guide/template. Replace placeholders with your actual results.</a:t>
            </a:r>
            <a:endParaRPr lang="en-US" sz="740" dirty="0"/>
          </a:p>
        </p:txBody>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CORE STORY</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The winning narrative</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31520" y="1536192"/>
            <a:ext cx="6583680" cy="640080"/>
          </a:xfrm>
          <a:prstGeom prst="rect">
            <a:avLst/>
          </a:prstGeom>
          <a:noFill/>
          <a:ln/>
        </p:spPr>
        <p:txBody>
          <a:bodyPr wrap="square" lIns="127" tIns="127" rIns="127" bIns="127"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The classifier is the gatekeeper of rehabilitation feedback.</a:t>
            </a:r>
            <a:endParaRPr lang="en-US" sz="2000" dirty="0"/>
          </a:p>
        </p:txBody>
      </p:sp>
      <p:sp>
        <p:nvSpPr>
          <p:cNvPr id="6" name="Text 4"/>
          <p:cNvSpPr/>
          <p:nvPr/>
        </p:nvSpPr>
        <p:spPr>
          <a:xfrm>
            <a:off x="777240" y="2331720"/>
            <a:ext cx="5486400" cy="914400"/>
          </a:xfrm>
          <a:prstGeom prst="rect">
            <a:avLst/>
          </a:prstGeom>
          <a:noFill/>
          <a:ln/>
        </p:spPr>
        <p:txBody>
          <a:bodyPr wrap="square" lIns="381" tIns="381" rIns="381" bIns="381" rtlCol="0" anchor="ctr">
            <a:normAutofit/>
          </a:bodyPr>
          <a:lstStyle/>
          <a:p>
            <a:pPr marL="0" indent="0">
              <a:buNone/>
            </a:pPr>
            <a:r>
              <a:rPr lang="en-US" sz="1800" dirty="0">
                <a:solidFill>
                  <a:srgbClr val="4B5563"/>
                </a:solidFill>
                <a:latin typeface="Aptos" pitchFamily="34" charset="0"/>
                <a:ea typeface="Aptos" pitchFamily="34" charset="-122"/>
                <a:cs typeface="Aptos" pitchFamily="34" charset="-120"/>
              </a:rPr>
              <a:t>“we measured whether the patient’s imagined movement can reliably trigger the right therapeutic feedback.”</a:t>
            </a:r>
            <a:endParaRPr lang="en-US" sz="1800" dirty="0"/>
          </a:p>
        </p:txBody>
      </p:sp>
      <p:sp>
        <p:nvSpPr>
          <p:cNvPr id="7" name="Shape 5"/>
          <p:cNvSpPr/>
          <p:nvPr/>
        </p:nvSpPr>
        <p:spPr>
          <a:xfrm>
            <a:off x="914400" y="3977640"/>
            <a:ext cx="1691640" cy="749808"/>
          </a:xfrm>
          <a:prstGeom prst="roundRect">
            <a:avLst>
              <a:gd name="adj" fmla="val 17073"/>
            </a:avLst>
          </a:prstGeom>
          <a:solidFill>
            <a:srgbClr val="0E7C7B"/>
          </a:solidFill>
          <a:ln w="12700">
            <a:solidFill>
              <a:srgbClr val="0E7C7B"/>
            </a:solidFill>
            <a:prstDash val="solid"/>
          </a:ln>
        </p:spPr>
        <p:txBody>
          <a:bodyPr/>
          <a:lstStyle/>
          <a:p>
            <a:endParaRPr lang="en-US"/>
          </a:p>
        </p:txBody>
      </p:sp>
      <p:sp>
        <p:nvSpPr>
          <p:cNvPr id="8" name="Text 6"/>
          <p:cNvSpPr/>
          <p:nvPr/>
        </p:nvSpPr>
        <p:spPr>
          <a:xfrm>
            <a:off x="1042416" y="4069080"/>
            <a:ext cx="143560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Motor imagery</a:t>
            </a:r>
            <a:endParaRPr lang="en-US" sz="1300" dirty="0"/>
          </a:p>
        </p:txBody>
      </p:sp>
      <p:sp>
        <p:nvSpPr>
          <p:cNvPr id="9" name="Shape 7"/>
          <p:cNvSpPr/>
          <p:nvPr/>
        </p:nvSpPr>
        <p:spPr>
          <a:xfrm>
            <a:off x="2651760" y="4352544"/>
            <a:ext cx="530352" cy="0"/>
          </a:xfrm>
          <a:prstGeom prst="line">
            <a:avLst/>
          </a:prstGeom>
          <a:noFill/>
          <a:ln w="25400">
            <a:solidFill>
              <a:srgbClr val="4B5563"/>
            </a:solidFill>
            <a:prstDash val="solid"/>
            <a:headEnd type="none"/>
            <a:tailEnd type="triangle"/>
          </a:ln>
        </p:spPr>
        <p:txBody>
          <a:bodyPr/>
          <a:lstStyle/>
          <a:p>
            <a:endParaRPr lang="en-US"/>
          </a:p>
        </p:txBody>
      </p:sp>
      <p:sp>
        <p:nvSpPr>
          <p:cNvPr id="10" name="Shape 8"/>
          <p:cNvSpPr/>
          <p:nvPr/>
        </p:nvSpPr>
        <p:spPr>
          <a:xfrm>
            <a:off x="3291840" y="3977640"/>
            <a:ext cx="1691640" cy="749808"/>
          </a:xfrm>
          <a:prstGeom prst="roundRect">
            <a:avLst>
              <a:gd name="adj" fmla="val 17073"/>
            </a:avLst>
          </a:prstGeom>
          <a:solidFill>
            <a:srgbClr val="3B82F6"/>
          </a:solidFill>
          <a:ln w="12700">
            <a:solidFill>
              <a:srgbClr val="3B82F6"/>
            </a:solidFill>
            <a:prstDash val="solid"/>
          </a:ln>
        </p:spPr>
        <p:txBody>
          <a:bodyPr/>
          <a:lstStyle/>
          <a:p>
            <a:endParaRPr lang="en-US"/>
          </a:p>
        </p:txBody>
      </p:sp>
      <p:sp>
        <p:nvSpPr>
          <p:cNvPr id="11" name="Text 9"/>
          <p:cNvSpPr/>
          <p:nvPr/>
        </p:nvSpPr>
        <p:spPr>
          <a:xfrm>
            <a:off x="3419856" y="4069080"/>
            <a:ext cx="143560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EEG pattern</a:t>
            </a:r>
            <a:endParaRPr lang="en-US" sz="1300" dirty="0"/>
          </a:p>
        </p:txBody>
      </p:sp>
      <p:sp>
        <p:nvSpPr>
          <p:cNvPr id="12" name="Shape 10"/>
          <p:cNvSpPr/>
          <p:nvPr/>
        </p:nvSpPr>
        <p:spPr>
          <a:xfrm>
            <a:off x="5029200" y="4352544"/>
            <a:ext cx="530352" cy="0"/>
          </a:xfrm>
          <a:prstGeom prst="line">
            <a:avLst/>
          </a:prstGeom>
          <a:noFill/>
          <a:ln w="25400">
            <a:solidFill>
              <a:srgbClr val="4B5563"/>
            </a:solidFill>
            <a:prstDash val="solid"/>
            <a:headEnd type="none"/>
            <a:tailEnd type="triangle"/>
          </a:ln>
        </p:spPr>
        <p:txBody>
          <a:bodyPr/>
          <a:lstStyle/>
          <a:p>
            <a:endParaRPr lang="en-US"/>
          </a:p>
        </p:txBody>
      </p:sp>
      <p:sp>
        <p:nvSpPr>
          <p:cNvPr id="13" name="Shape 11"/>
          <p:cNvSpPr/>
          <p:nvPr/>
        </p:nvSpPr>
        <p:spPr>
          <a:xfrm>
            <a:off x="5669280" y="3977640"/>
            <a:ext cx="1691640" cy="749808"/>
          </a:xfrm>
          <a:prstGeom prst="roundRect">
            <a:avLst>
              <a:gd name="adj" fmla="val 17073"/>
            </a:avLst>
          </a:prstGeom>
          <a:solidFill>
            <a:srgbClr val="7C3AED"/>
          </a:solidFill>
          <a:ln w="12700">
            <a:solidFill>
              <a:srgbClr val="7C3AED"/>
            </a:solidFill>
            <a:prstDash val="solid"/>
          </a:ln>
        </p:spPr>
        <p:txBody>
          <a:bodyPr/>
          <a:lstStyle/>
          <a:p>
            <a:endParaRPr lang="en-US"/>
          </a:p>
        </p:txBody>
      </p:sp>
      <p:sp>
        <p:nvSpPr>
          <p:cNvPr id="14" name="Text 12"/>
          <p:cNvSpPr/>
          <p:nvPr/>
        </p:nvSpPr>
        <p:spPr>
          <a:xfrm>
            <a:off x="5797296" y="4069080"/>
            <a:ext cx="143560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Decoder decision</a:t>
            </a:r>
            <a:endParaRPr lang="en-US" sz="1300" dirty="0"/>
          </a:p>
        </p:txBody>
      </p:sp>
      <p:sp>
        <p:nvSpPr>
          <p:cNvPr id="15" name="Shape 13"/>
          <p:cNvSpPr/>
          <p:nvPr/>
        </p:nvSpPr>
        <p:spPr>
          <a:xfrm>
            <a:off x="7406640" y="4352544"/>
            <a:ext cx="530352" cy="0"/>
          </a:xfrm>
          <a:prstGeom prst="line">
            <a:avLst/>
          </a:prstGeom>
          <a:noFill/>
          <a:ln w="25400">
            <a:solidFill>
              <a:srgbClr val="4B5563"/>
            </a:solidFill>
            <a:prstDash val="solid"/>
            <a:headEnd type="none"/>
            <a:tailEnd type="triangle"/>
          </a:ln>
        </p:spPr>
        <p:txBody>
          <a:bodyPr/>
          <a:lstStyle/>
          <a:p>
            <a:endParaRPr lang="en-US"/>
          </a:p>
        </p:txBody>
      </p:sp>
      <p:sp>
        <p:nvSpPr>
          <p:cNvPr id="16" name="Shape 14"/>
          <p:cNvSpPr/>
          <p:nvPr/>
        </p:nvSpPr>
        <p:spPr>
          <a:xfrm>
            <a:off x="8046720" y="3977640"/>
            <a:ext cx="1691640" cy="749808"/>
          </a:xfrm>
          <a:prstGeom prst="roundRect">
            <a:avLst>
              <a:gd name="adj" fmla="val 17073"/>
            </a:avLst>
          </a:prstGeom>
          <a:solidFill>
            <a:srgbClr val="FF6B5A"/>
          </a:solidFill>
          <a:ln w="12700">
            <a:solidFill>
              <a:srgbClr val="FF6B5A"/>
            </a:solidFill>
            <a:prstDash val="solid"/>
          </a:ln>
        </p:spPr>
        <p:txBody>
          <a:bodyPr/>
          <a:lstStyle/>
          <a:p>
            <a:endParaRPr lang="en-US"/>
          </a:p>
        </p:txBody>
      </p:sp>
      <p:sp>
        <p:nvSpPr>
          <p:cNvPr id="17" name="Text 15"/>
          <p:cNvSpPr/>
          <p:nvPr/>
        </p:nvSpPr>
        <p:spPr>
          <a:xfrm>
            <a:off x="8174736" y="4069080"/>
            <a:ext cx="143560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FES / visual feedback</a:t>
            </a:r>
            <a:endParaRPr lang="en-US" sz="1300" dirty="0"/>
          </a:p>
        </p:txBody>
      </p:sp>
      <p:sp>
        <p:nvSpPr>
          <p:cNvPr id="18" name="Shape 16"/>
          <p:cNvSpPr/>
          <p:nvPr/>
        </p:nvSpPr>
        <p:spPr>
          <a:xfrm>
            <a:off x="9829800" y="1920240"/>
            <a:ext cx="1508760" cy="3337560"/>
          </a:xfrm>
          <a:prstGeom prst="roundRect">
            <a:avLst>
              <a:gd name="adj" fmla="val 8485"/>
            </a:avLst>
          </a:prstGeom>
          <a:solidFill>
            <a:srgbClr val="E6F5F3"/>
          </a:solidFill>
          <a:ln w="12700">
            <a:solidFill>
              <a:srgbClr val="0E7C7B"/>
            </a:solidFill>
            <a:prstDash val="solid"/>
          </a:ln>
        </p:spPr>
        <p:txBody>
          <a:bodyPr/>
          <a:lstStyle/>
          <a:p>
            <a:endParaRPr lang="en-US"/>
          </a:p>
        </p:txBody>
      </p:sp>
      <p:sp>
        <p:nvSpPr>
          <p:cNvPr id="19" name="Text 17"/>
          <p:cNvSpPr/>
          <p:nvPr/>
        </p:nvSpPr>
        <p:spPr>
          <a:xfrm>
            <a:off x="9957816" y="2011680"/>
            <a:ext cx="1252728" cy="3154680"/>
          </a:xfrm>
          <a:prstGeom prst="rect">
            <a:avLst/>
          </a:prstGeom>
          <a:noFill/>
          <a:ln/>
        </p:spPr>
        <p:txBody>
          <a:bodyPr wrap="square" lIns="127" tIns="127" rIns="127" bIns="127" rtlCol="0" anchor="ctr">
            <a:normAutofit/>
          </a:bodyPr>
          <a:lstStyle/>
          <a:p>
            <a:pPr marL="0" indent="0">
              <a:buNone/>
            </a:pPr>
            <a:r>
              <a:rPr lang="en-US" sz="1400" dirty="0">
                <a:solidFill>
                  <a:srgbClr val="0B1F33"/>
                </a:solidFill>
                <a:latin typeface="Aptos" pitchFamily="34" charset="0"/>
                <a:ea typeface="Aptos" pitchFamily="34" charset="-122"/>
                <a:cs typeface="Aptos" pitchFamily="34" charset="-120"/>
              </a:rPr>
              <a:t>Impact lens</a:t>
            </a:r>
            <a:endParaRPr lang="en-US" sz="1400" dirty="0"/>
          </a:p>
          <a:p>
            <a:pPr marL="0" indent="0">
              <a:buNone/>
            </a:pP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Is control above chance?</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Did PRE → POST improve?</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Is it reliable enough for feedback?</a:t>
            </a:r>
            <a:endParaRPr lang="en-US" sz="1400" dirty="0"/>
          </a:p>
        </p:txBody>
      </p:sp>
      <p:sp>
        <p:nvSpPr>
          <p:cNvPr id="20" name="Text 18"/>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Main message: accuracy is clinically meaningful only when connected to feedback reliability.</a:t>
            </a:r>
            <a:endParaRPr lang="en-US" sz="740" dirty="0"/>
          </a:p>
        </p:txBody>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STORYBOARD</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Recommended slide order</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31520" y="1508760"/>
            <a:ext cx="411480" cy="411480"/>
          </a:xfrm>
          <a:prstGeom prst="rect">
            <a:avLst/>
          </a:prstGeom>
          <a:solidFill>
            <a:srgbClr val="0E7C7B"/>
          </a:solidFill>
          <a:ln>
            <a:solidFill>
              <a:srgbClr val="0E7C7B"/>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1</a:t>
            </a:r>
            <a:endParaRPr lang="en-US" sz="1700" dirty="0"/>
          </a:p>
        </p:txBody>
      </p:sp>
      <p:sp>
        <p:nvSpPr>
          <p:cNvPr id="6" name="Text 4"/>
          <p:cNvSpPr/>
          <p:nvPr/>
        </p:nvSpPr>
        <p:spPr>
          <a:xfrm>
            <a:off x="1298448" y="149047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Hook</a:t>
            </a:r>
            <a:endParaRPr lang="en-US" sz="2000" dirty="0"/>
          </a:p>
        </p:txBody>
      </p:sp>
      <p:sp>
        <p:nvSpPr>
          <p:cNvPr id="7" name="Text 5"/>
          <p:cNvSpPr/>
          <p:nvPr/>
        </p:nvSpPr>
        <p:spPr>
          <a:xfrm>
            <a:off x="1298448" y="191109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Why this matters after stroke</a:t>
            </a:r>
            <a:endParaRPr lang="en-US" sz="1300" dirty="0"/>
          </a:p>
        </p:txBody>
      </p:sp>
      <p:sp>
        <p:nvSpPr>
          <p:cNvPr id="8" name="Text 6"/>
          <p:cNvSpPr/>
          <p:nvPr/>
        </p:nvSpPr>
        <p:spPr>
          <a:xfrm>
            <a:off x="4526280" y="1508760"/>
            <a:ext cx="411480" cy="411480"/>
          </a:xfrm>
          <a:prstGeom prst="rect">
            <a:avLst/>
          </a:prstGeom>
          <a:solidFill>
            <a:srgbClr val="0E7C7B"/>
          </a:solidFill>
          <a:ln>
            <a:solidFill>
              <a:srgbClr val="0E7C7B"/>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2</a:t>
            </a:r>
            <a:endParaRPr lang="en-US" sz="1700" dirty="0"/>
          </a:p>
        </p:txBody>
      </p:sp>
      <p:sp>
        <p:nvSpPr>
          <p:cNvPr id="9" name="Text 7"/>
          <p:cNvSpPr/>
          <p:nvPr/>
        </p:nvSpPr>
        <p:spPr>
          <a:xfrm>
            <a:off x="5093208" y="149047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Dataset</a:t>
            </a:r>
            <a:endParaRPr lang="en-US" sz="2000" dirty="0"/>
          </a:p>
        </p:txBody>
      </p:sp>
      <p:sp>
        <p:nvSpPr>
          <p:cNvPr id="10" name="Text 8"/>
          <p:cNvSpPr/>
          <p:nvPr/>
        </p:nvSpPr>
        <p:spPr>
          <a:xfrm>
            <a:off x="5093208" y="191109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PRE vs POST + training/test</a:t>
            </a:r>
            <a:endParaRPr lang="en-US" sz="1300" dirty="0"/>
          </a:p>
        </p:txBody>
      </p:sp>
      <p:sp>
        <p:nvSpPr>
          <p:cNvPr id="11" name="Text 9"/>
          <p:cNvSpPr/>
          <p:nvPr/>
        </p:nvSpPr>
        <p:spPr>
          <a:xfrm>
            <a:off x="8321040" y="1508760"/>
            <a:ext cx="411480" cy="411480"/>
          </a:xfrm>
          <a:prstGeom prst="rect">
            <a:avLst/>
          </a:prstGeom>
          <a:solidFill>
            <a:srgbClr val="0E7C7B"/>
          </a:solidFill>
          <a:ln>
            <a:solidFill>
              <a:srgbClr val="0E7C7B"/>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3</a:t>
            </a:r>
            <a:endParaRPr lang="en-US" sz="1700" dirty="0"/>
          </a:p>
        </p:txBody>
      </p:sp>
      <p:sp>
        <p:nvSpPr>
          <p:cNvPr id="12" name="Text 10"/>
          <p:cNvSpPr/>
          <p:nvPr/>
        </p:nvSpPr>
        <p:spPr>
          <a:xfrm>
            <a:off x="8887968" y="149047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Question</a:t>
            </a:r>
            <a:endParaRPr lang="en-US" sz="2000" dirty="0"/>
          </a:p>
        </p:txBody>
      </p:sp>
      <p:sp>
        <p:nvSpPr>
          <p:cNvPr id="13" name="Text 11"/>
          <p:cNvSpPr/>
          <p:nvPr/>
        </p:nvSpPr>
        <p:spPr>
          <a:xfrm>
            <a:off x="8887968" y="191109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Can BCI control improve?</a:t>
            </a:r>
            <a:endParaRPr lang="en-US" sz="1300" dirty="0"/>
          </a:p>
        </p:txBody>
      </p:sp>
      <p:sp>
        <p:nvSpPr>
          <p:cNvPr id="14" name="Text 12"/>
          <p:cNvSpPr/>
          <p:nvPr/>
        </p:nvSpPr>
        <p:spPr>
          <a:xfrm>
            <a:off x="731520" y="2926080"/>
            <a:ext cx="411480" cy="411480"/>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4</a:t>
            </a:r>
            <a:endParaRPr lang="en-US" sz="1700" dirty="0"/>
          </a:p>
        </p:txBody>
      </p:sp>
      <p:sp>
        <p:nvSpPr>
          <p:cNvPr id="15" name="Text 13"/>
          <p:cNvSpPr/>
          <p:nvPr/>
        </p:nvSpPr>
        <p:spPr>
          <a:xfrm>
            <a:off x="1298448" y="290779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Pipeline</a:t>
            </a:r>
            <a:endParaRPr lang="en-US" sz="2000" dirty="0"/>
          </a:p>
        </p:txBody>
      </p:sp>
      <p:sp>
        <p:nvSpPr>
          <p:cNvPr id="16" name="Text 14"/>
          <p:cNvSpPr/>
          <p:nvPr/>
        </p:nvSpPr>
        <p:spPr>
          <a:xfrm>
            <a:off x="1298448" y="332841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Preprocess → features → classifier</a:t>
            </a:r>
            <a:endParaRPr lang="en-US" sz="1300" dirty="0"/>
          </a:p>
        </p:txBody>
      </p:sp>
      <p:sp>
        <p:nvSpPr>
          <p:cNvPr id="17" name="Text 15"/>
          <p:cNvSpPr/>
          <p:nvPr/>
        </p:nvSpPr>
        <p:spPr>
          <a:xfrm>
            <a:off x="4526280" y="2926080"/>
            <a:ext cx="411480" cy="411480"/>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5</a:t>
            </a:r>
            <a:endParaRPr lang="en-US" sz="1700" dirty="0"/>
          </a:p>
        </p:txBody>
      </p:sp>
      <p:sp>
        <p:nvSpPr>
          <p:cNvPr id="18" name="Text 16"/>
          <p:cNvSpPr/>
          <p:nvPr/>
        </p:nvSpPr>
        <p:spPr>
          <a:xfrm>
            <a:off x="5093208" y="290779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Results</a:t>
            </a:r>
            <a:endParaRPr lang="en-US" sz="2000" dirty="0"/>
          </a:p>
        </p:txBody>
      </p:sp>
      <p:sp>
        <p:nvSpPr>
          <p:cNvPr id="19" name="Text 17"/>
          <p:cNvSpPr/>
          <p:nvPr/>
        </p:nvSpPr>
        <p:spPr>
          <a:xfrm>
            <a:off x="5093208" y="332841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Accuracy, significance, errors</a:t>
            </a:r>
            <a:endParaRPr lang="en-US" sz="1300" dirty="0"/>
          </a:p>
        </p:txBody>
      </p:sp>
      <p:sp>
        <p:nvSpPr>
          <p:cNvPr id="20" name="Text 18"/>
          <p:cNvSpPr/>
          <p:nvPr/>
        </p:nvSpPr>
        <p:spPr>
          <a:xfrm>
            <a:off x="8321040" y="2926080"/>
            <a:ext cx="411480" cy="411480"/>
          </a:xfrm>
          <a:prstGeom prst="rect">
            <a:avLst/>
          </a:prstGeom>
          <a:solidFill>
            <a:srgbClr val="3B82F6"/>
          </a:solidFill>
          <a:ln>
            <a:solidFill>
              <a:srgbClr val="3B82F6"/>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6</a:t>
            </a:r>
            <a:endParaRPr lang="en-US" sz="1700" dirty="0"/>
          </a:p>
        </p:txBody>
      </p:sp>
      <p:sp>
        <p:nvSpPr>
          <p:cNvPr id="21" name="Text 19"/>
          <p:cNvSpPr/>
          <p:nvPr/>
        </p:nvSpPr>
        <p:spPr>
          <a:xfrm>
            <a:off x="8887968" y="290779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Interpretability</a:t>
            </a:r>
            <a:endParaRPr lang="en-US" sz="2000" dirty="0"/>
          </a:p>
        </p:txBody>
      </p:sp>
      <p:sp>
        <p:nvSpPr>
          <p:cNvPr id="22" name="Text 20"/>
          <p:cNvSpPr/>
          <p:nvPr/>
        </p:nvSpPr>
        <p:spPr>
          <a:xfrm>
            <a:off x="8887968" y="332841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Which signals drive decisions?</a:t>
            </a:r>
            <a:endParaRPr lang="en-US" sz="1300" dirty="0"/>
          </a:p>
        </p:txBody>
      </p:sp>
      <p:sp>
        <p:nvSpPr>
          <p:cNvPr id="23" name="Text 21"/>
          <p:cNvSpPr/>
          <p:nvPr/>
        </p:nvSpPr>
        <p:spPr>
          <a:xfrm>
            <a:off x="731520" y="4343400"/>
            <a:ext cx="411480" cy="411480"/>
          </a:xfrm>
          <a:prstGeom prst="rect">
            <a:avLst/>
          </a:prstGeom>
          <a:solidFill>
            <a:srgbClr val="FF6B5A"/>
          </a:solidFill>
          <a:ln>
            <a:solidFill>
              <a:srgbClr val="FF6B5A"/>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7</a:t>
            </a:r>
            <a:endParaRPr lang="en-US" sz="1700" dirty="0"/>
          </a:p>
        </p:txBody>
      </p:sp>
      <p:sp>
        <p:nvSpPr>
          <p:cNvPr id="24" name="Text 22"/>
          <p:cNvSpPr/>
          <p:nvPr/>
        </p:nvSpPr>
        <p:spPr>
          <a:xfrm>
            <a:off x="1298448" y="432511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Clinical use</a:t>
            </a:r>
            <a:endParaRPr lang="en-US" sz="2000" dirty="0"/>
          </a:p>
        </p:txBody>
      </p:sp>
      <p:sp>
        <p:nvSpPr>
          <p:cNvPr id="25" name="Text 23"/>
          <p:cNvSpPr/>
          <p:nvPr/>
        </p:nvSpPr>
        <p:spPr>
          <a:xfrm>
            <a:off x="1298448" y="474573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Patient report card</a:t>
            </a:r>
            <a:endParaRPr lang="en-US" sz="1300" dirty="0"/>
          </a:p>
        </p:txBody>
      </p:sp>
      <p:sp>
        <p:nvSpPr>
          <p:cNvPr id="26" name="Text 24"/>
          <p:cNvSpPr/>
          <p:nvPr/>
        </p:nvSpPr>
        <p:spPr>
          <a:xfrm>
            <a:off x="4526280" y="4343400"/>
            <a:ext cx="411480" cy="411480"/>
          </a:xfrm>
          <a:prstGeom prst="rect">
            <a:avLst/>
          </a:prstGeom>
          <a:solidFill>
            <a:srgbClr val="FF6B5A"/>
          </a:solidFill>
          <a:ln>
            <a:solidFill>
              <a:srgbClr val="FF6B5A"/>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8</a:t>
            </a:r>
            <a:endParaRPr lang="en-US" sz="1700" dirty="0"/>
          </a:p>
        </p:txBody>
      </p:sp>
      <p:sp>
        <p:nvSpPr>
          <p:cNvPr id="27" name="Text 25"/>
          <p:cNvSpPr/>
          <p:nvPr/>
        </p:nvSpPr>
        <p:spPr>
          <a:xfrm>
            <a:off x="5093208" y="432511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State of art</a:t>
            </a:r>
            <a:endParaRPr lang="en-US" sz="2000" dirty="0"/>
          </a:p>
        </p:txBody>
      </p:sp>
      <p:sp>
        <p:nvSpPr>
          <p:cNvPr id="28" name="Text 26"/>
          <p:cNvSpPr/>
          <p:nvPr/>
        </p:nvSpPr>
        <p:spPr>
          <a:xfrm>
            <a:off x="5093208" y="474573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Why your method is credible</a:t>
            </a:r>
            <a:endParaRPr lang="en-US" sz="1300" dirty="0"/>
          </a:p>
        </p:txBody>
      </p:sp>
      <p:sp>
        <p:nvSpPr>
          <p:cNvPr id="29" name="Text 27"/>
          <p:cNvSpPr/>
          <p:nvPr/>
        </p:nvSpPr>
        <p:spPr>
          <a:xfrm>
            <a:off x="8321040" y="4343400"/>
            <a:ext cx="411480" cy="411480"/>
          </a:xfrm>
          <a:prstGeom prst="rect">
            <a:avLst/>
          </a:prstGeom>
          <a:solidFill>
            <a:srgbClr val="FF6B5A"/>
          </a:solidFill>
          <a:ln>
            <a:solidFill>
              <a:srgbClr val="FF6B5A"/>
            </a:solid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9</a:t>
            </a:r>
            <a:endParaRPr lang="en-US" sz="1700" dirty="0"/>
          </a:p>
        </p:txBody>
      </p:sp>
      <p:sp>
        <p:nvSpPr>
          <p:cNvPr id="30" name="Text 28"/>
          <p:cNvSpPr/>
          <p:nvPr/>
        </p:nvSpPr>
        <p:spPr>
          <a:xfrm>
            <a:off x="8887968" y="4325112"/>
            <a:ext cx="2468880" cy="320040"/>
          </a:xfrm>
          <a:prstGeom prst="rect">
            <a:avLst/>
          </a:prstGeom>
          <a:noFill/>
          <a:ln/>
        </p:spPr>
        <p:txBody>
          <a:bodyPr wrap="square" lIns="0" tIns="0" rIns="0" bIns="0"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Close</a:t>
            </a:r>
            <a:endParaRPr lang="en-US" sz="2000" dirty="0"/>
          </a:p>
        </p:txBody>
      </p:sp>
      <p:sp>
        <p:nvSpPr>
          <p:cNvPr id="31" name="Text 29"/>
          <p:cNvSpPr/>
          <p:nvPr/>
        </p:nvSpPr>
        <p:spPr>
          <a:xfrm>
            <a:off x="8887968" y="4745736"/>
            <a:ext cx="2651760" cy="384048"/>
          </a:xfrm>
          <a:prstGeom prst="rect">
            <a:avLst/>
          </a:prstGeom>
          <a:noFill/>
          <a:ln/>
        </p:spPr>
        <p:txBody>
          <a:bodyPr wrap="square" lIns="0" tIns="0" rIns="0" bIns="0" rtlCol="0" anchor="ctr">
            <a:normAutofit/>
          </a:bodyPr>
          <a:lstStyle/>
          <a:p>
            <a:pPr marL="0" indent="0">
              <a:buNone/>
            </a:pPr>
            <a:r>
              <a:rPr lang="en-US" sz="1300" dirty="0">
                <a:solidFill>
                  <a:srgbClr val="4B5563"/>
                </a:solidFill>
              </a:rPr>
              <a:t>One-sentence impact</a:t>
            </a:r>
            <a:endParaRPr lang="en-US" sz="1300" dirty="0"/>
          </a:p>
        </p:txBody>
      </p:sp>
      <p:sp>
        <p:nvSpPr>
          <p:cNvPr id="32" name="Shape 30"/>
          <p:cNvSpPr/>
          <p:nvPr/>
        </p:nvSpPr>
        <p:spPr>
          <a:xfrm>
            <a:off x="822960" y="5806440"/>
            <a:ext cx="10287000" cy="411480"/>
          </a:xfrm>
          <a:prstGeom prst="roundRect">
            <a:avLst>
              <a:gd name="adj" fmla="val 31111"/>
            </a:avLst>
          </a:prstGeom>
          <a:solidFill>
            <a:srgbClr val="FFF0EE"/>
          </a:solidFill>
          <a:ln w="12700">
            <a:solidFill>
              <a:srgbClr val="FF6B5A"/>
            </a:solidFill>
            <a:prstDash val="solid"/>
          </a:ln>
        </p:spPr>
        <p:txBody>
          <a:bodyPr/>
          <a:lstStyle/>
          <a:p>
            <a:endParaRPr lang="en-US"/>
          </a:p>
        </p:txBody>
      </p:sp>
      <p:sp>
        <p:nvSpPr>
          <p:cNvPr id="33" name="Text 31"/>
          <p:cNvSpPr/>
          <p:nvPr/>
        </p:nvSpPr>
        <p:spPr>
          <a:xfrm>
            <a:off x="950976" y="5897880"/>
            <a:ext cx="10030968" cy="228600"/>
          </a:xfrm>
          <a:prstGeom prst="rect">
            <a:avLst/>
          </a:prstGeom>
          <a:noFill/>
          <a:ln/>
        </p:spPr>
        <p:txBody>
          <a:bodyPr wrap="square" lIns="127" tIns="127" rIns="127" bIns="127" rtlCol="0" anchor="ctr">
            <a:normAutofit lnSpcReduction="10000"/>
          </a:bodyPr>
          <a:lstStyle/>
          <a:p>
            <a:pPr marL="0" indent="0">
              <a:buNone/>
            </a:pPr>
            <a:r>
              <a:rPr lang="en-US" sz="1600" b="1" dirty="0">
                <a:solidFill>
                  <a:srgbClr val="0B1F33"/>
                </a:solidFill>
                <a:latin typeface="Aptos" pitchFamily="34" charset="0"/>
                <a:ea typeface="Aptos" pitchFamily="34" charset="-122"/>
                <a:cs typeface="Aptos" pitchFamily="34" charset="-120"/>
              </a:rPr>
              <a:t>Golden rule: each slide should answer “so what?” before showing technical detail.</a:t>
            </a:r>
            <a:endParaRPr lang="en-US" sz="1600" dirty="0"/>
          </a:p>
        </p:txBody>
      </p:sp>
      <p:sp>
        <p:nvSpPr>
          <p:cNvPr id="34" name="Text 32"/>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Use 8–10 slides for a hackathon pitch; avoid becoming a methods-only presentation.</a:t>
            </a:r>
            <a:endParaRPr lang="en-US" sz="740" dirty="0"/>
          </a:p>
        </p:txBody>
      </p:sp>
      <p:sp>
        <p:nvSpPr>
          <p:cNvPr id="3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1 — Hook: make the problem human</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6" name="Text 4"/>
          <p:cNvSpPr/>
          <p:nvPr/>
        </p:nvSpPr>
        <p:spPr>
          <a:xfrm>
            <a:off x="731520" y="1874520"/>
            <a:ext cx="5029200" cy="640080"/>
          </a:xfrm>
          <a:prstGeom prst="rect">
            <a:avLst/>
          </a:prstGeom>
          <a:noFill/>
          <a:ln/>
        </p:spPr>
        <p:txBody>
          <a:bodyPr wrap="square" lIns="254" tIns="254" rIns="254" bIns="254" rtlCol="0" anchor="ctr">
            <a:norm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Show why a left/right motor imagery classifier can matter in stroke rehabilitation.</a:t>
            </a:r>
            <a:endParaRPr lang="en-US" sz="2000" dirty="0"/>
          </a:p>
        </p:txBody>
      </p:sp>
      <p:sp>
        <p:nvSpPr>
          <p:cNvPr id="7" name="Text 5"/>
          <p:cNvSpPr/>
          <p:nvPr/>
        </p:nvSpPr>
        <p:spPr>
          <a:xfrm>
            <a:off x="777240" y="2788920"/>
            <a:ext cx="4754880" cy="1417320"/>
          </a:xfrm>
          <a:prstGeom prst="rect">
            <a:avLst/>
          </a:prstGeom>
          <a:noFill/>
          <a:ln/>
        </p:spPr>
        <p:txBody>
          <a:bodyPr wrap="square" lIns="381" tIns="381" rIns="381" bIns="381" rtlCol="0" anchor="ctr">
            <a:normAutofit/>
          </a:bodyPr>
          <a:lstStyle/>
          <a:p>
            <a:pPr marL="0" indent="0">
              <a:buNone/>
            </a:pPr>
            <a:r>
              <a:rPr lang="en-US" sz="1700" dirty="0">
                <a:solidFill>
                  <a:srgbClr val="4B5563"/>
                </a:solidFill>
                <a:latin typeface="Aptos" pitchFamily="34" charset="0"/>
                <a:ea typeface="Aptos" pitchFamily="34" charset="-122"/>
                <a:cs typeface="Aptos" pitchFamily="34" charset="-120"/>
              </a:rPr>
              <a:t>Suggested visual: a simple loop from intention → brain signal → decoder → feedback.</a:t>
            </a:r>
            <a:endParaRPr lang="en-US" sz="1700" dirty="0"/>
          </a:p>
          <a:p>
            <a:pPr marL="0" indent="0">
              <a:buNone/>
            </a:pPr>
            <a:endParaRPr lang="en-US" sz="1700" dirty="0"/>
          </a:p>
          <a:p>
            <a:pPr marL="0" indent="0">
              <a:buNone/>
            </a:pPr>
            <a:r>
              <a:rPr lang="en-US" sz="1700" dirty="0">
                <a:solidFill>
                  <a:srgbClr val="4B5563"/>
                </a:solidFill>
                <a:latin typeface="Aptos" pitchFamily="34" charset="0"/>
                <a:ea typeface="Aptos" pitchFamily="34" charset="-122"/>
                <a:cs typeface="Aptos" pitchFamily="34" charset="-120"/>
              </a:rPr>
              <a:t>Avoid starting with algorithms. Start with the rehab challenge.</a:t>
            </a:r>
            <a:endParaRPr lang="en-US" sz="1700" dirty="0"/>
          </a:p>
        </p:txBody>
      </p:sp>
      <p:sp>
        <p:nvSpPr>
          <p:cNvPr id="8" name="Shape 6"/>
          <p:cNvSpPr/>
          <p:nvPr/>
        </p:nvSpPr>
        <p:spPr>
          <a:xfrm>
            <a:off x="7818120" y="1691640"/>
            <a:ext cx="1143000" cy="658368"/>
          </a:xfrm>
          <a:prstGeom prst="ellipse">
            <a:avLst/>
          </a:prstGeom>
          <a:solidFill>
            <a:srgbClr val="0E7C7B"/>
          </a:solidFill>
          <a:ln w="12700">
            <a:solidFill>
              <a:srgbClr val="0E7C7B"/>
            </a:solidFill>
            <a:prstDash val="solid"/>
          </a:ln>
        </p:spPr>
        <p:txBody>
          <a:bodyPr/>
          <a:lstStyle/>
          <a:p>
            <a:endParaRPr lang="en-US"/>
          </a:p>
        </p:txBody>
      </p:sp>
      <p:sp>
        <p:nvSpPr>
          <p:cNvPr id="9" name="Text 7"/>
          <p:cNvSpPr/>
          <p:nvPr/>
        </p:nvSpPr>
        <p:spPr>
          <a:xfrm>
            <a:off x="7891272" y="1883664"/>
            <a:ext cx="99669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INTENT</a:t>
            </a:r>
            <a:endParaRPr lang="en-US" sz="1300" dirty="0"/>
          </a:p>
        </p:txBody>
      </p:sp>
      <p:sp>
        <p:nvSpPr>
          <p:cNvPr id="10" name="Shape 8"/>
          <p:cNvSpPr/>
          <p:nvPr/>
        </p:nvSpPr>
        <p:spPr>
          <a:xfrm>
            <a:off x="9464040" y="2697480"/>
            <a:ext cx="1143000" cy="658368"/>
          </a:xfrm>
          <a:prstGeom prst="ellipse">
            <a:avLst/>
          </a:prstGeom>
          <a:solidFill>
            <a:srgbClr val="3B82F6"/>
          </a:solidFill>
          <a:ln w="12700">
            <a:solidFill>
              <a:srgbClr val="3B82F6"/>
            </a:solidFill>
            <a:prstDash val="solid"/>
          </a:ln>
        </p:spPr>
        <p:txBody>
          <a:bodyPr/>
          <a:lstStyle/>
          <a:p>
            <a:endParaRPr lang="en-US"/>
          </a:p>
        </p:txBody>
      </p:sp>
      <p:sp>
        <p:nvSpPr>
          <p:cNvPr id="11" name="Text 9"/>
          <p:cNvSpPr/>
          <p:nvPr/>
        </p:nvSpPr>
        <p:spPr>
          <a:xfrm>
            <a:off x="9537192" y="2889504"/>
            <a:ext cx="99669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EEG</a:t>
            </a:r>
            <a:endParaRPr lang="en-US" sz="1300" dirty="0"/>
          </a:p>
        </p:txBody>
      </p:sp>
      <p:sp>
        <p:nvSpPr>
          <p:cNvPr id="12" name="Shape 10"/>
          <p:cNvSpPr/>
          <p:nvPr/>
        </p:nvSpPr>
        <p:spPr>
          <a:xfrm>
            <a:off x="8732520" y="4251960"/>
            <a:ext cx="1234440" cy="658368"/>
          </a:xfrm>
          <a:prstGeom prst="ellipse">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8805672" y="4443984"/>
            <a:ext cx="108813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MODEL</a:t>
            </a:r>
            <a:endParaRPr lang="en-US" sz="1300" dirty="0"/>
          </a:p>
        </p:txBody>
      </p:sp>
      <p:sp>
        <p:nvSpPr>
          <p:cNvPr id="14" name="Shape 12"/>
          <p:cNvSpPr/>
          <p:nvPr/>
        </p:nvSpPr>
        <p:spPr>
          <a:xfrm>
            <a:off x="6720840" y="4069080"/>
            <a:ext cx="1325880" cy="658368"/>
          </a:xfrm>
          <a:prstGeom prst="ellipse">
            <a:avLst/>
          </a:prstGeom>
          <a:solidFill>
            <a:srgbClr val="FF6B5A"/>
          </a:solidFill>
          <a:ln w="12700">
            <a:solidFill>
              <a:srgbClr val="FF6B5A"/>
            </a:solidFill>
            <a:prstDash val="solid"/>
          </a:ln>
        </p:spPr>
        <p:txBody>
          <a:bodyPr/>
          <a:lstStyle/>
          <a:p>
            <a:endParaRPr lang="en-US"/>
          </a:p>
        </p:txBody>
      </p:sp>
      <p:sp>
        <p:nvSpPr>
          <p:cNvPr id="15" name="Text 13"/>
          <p:cNvSpPr/>
          <p:nvPr/>
        </p:nvSpPr>
        <p:spPr>
          <a:xfrm>
            <a:off x="6793992" y="4261104"/>
            <a:ext cx="1179576"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FEEDBACK</a:t>
            </a:r>
            <a:endParaRPr lang="en-US" sz="1300" dirty="0"/>
          </a:p>
        </p:txBody>
      </p:sp>
      <p:sp>
        <p:nvSpPr>
          <p:cNvPr id="16" name="Shape 14"/>
          <p:cNvSpPr/>
          <p:nvPr/>
        </p:nvSpPr>
        <p:spPr>
          <a:xfrm>
            <a:off x="8778240" y="2057400"/>
            <a:ext cx="685800" cy="731520"/>
          </a:xfrm>
          <a:prstGeom prst="line">
            <a:avLst/>
          </a:prstGeom>
          <a:noFill/>
          <a:ln w="25400">
            <a:solidFill>
              <a:srgbClr val="4B5563"/>
            </a:solidFill>
            <a:prstDash val="solid"/>
            <a:headEnd type="none"/>
            <a:tailEnd type="triangle"/>
          </a:ln>
        </p:spPr>
        <p:txBody>
          <a:bodyPr/>
          <a:lstStyle/>
          <a:p>
            <a:endParaRPr lang="en-US"/>
          </a:p>
        </p:txBody>
      </p:sp>
      <p:sp>
        <p:nvSpPr>
          <p:cNvPr id="17" name="Shape 15"/>
          <p:cNvSpPr/>
          <p:nvPr/>
        </p:nvSpPr>
        <p:spPr>
          <a:xfrm>
            <a:off x="10012680" y="3383280"/>
            <a:ext cx="0" cy="868680"/>
          </a:xfrm>
          <a:prstGeom prst="line">
            <a:avLst/>
          </a:prstGeom>
          <a:noFill/>
          <a:ln w="25400">
            <a:solidFill>
              <a:srgbClr val="4B5563"/>
            </a:solidFill>
            <a:prstDash val="solid"/>
            <a:headEnd type="none"/>
            <a:tailEnd type="triangle"/>
          </a:ln>
        </p:spPr>
        <p:txBody>
          <a:bodyPr/>
          <a:lstStyle/>
          <a:p>
            <a:endParaRPr lang="en-US"/>
          </a:p>
        </p:txBody>
      </p:sp>
      <p:sp>
        <p:nvSpPr>
          <p:cNvPr id="18" name="Shape 16"/>
          <p:cNvSpPr/>
          <p:nvPr/>
        </p:nvSpPr>
        <p:spPr>
          <a:xfrm>
            <a:off x="8732520" y="4553712"/>
            <a:ext cx="0" cy="0"/>
          </a:xfrm>
          <a:prstGeom prst="line">
            <a:avLst/>
          </a:prstGeom>
          <a:noFill/>
          <a:ln w="25400">
            <a:solidFill>
              <a:srgbClr val="4B5563"/>
            </a:solidFill>
            <a:prstDash val="solid"/>
            <a:headEnd type="none"/>
            <a:tailEnd type="triangle"/>
          </a:ln>
        </p:spPr>
        <p:txBody>
          <a:bodyPr/>
          <a:lstStyle/>
          <a:p>
            <a:endParaRPr lang="en-US"/>
          </a:p>
        </p:txBody>
      </p:sp>
      <p:sp>
        <p:nvSpPr>
          <p:cNvPr id="19" name="Shape 17"/>
          <p:cNvSpPr/>
          <p:nvPr/>
        </p:nvSpPr>
        <p:spPr>
          <a:xfrm>
            <a:off x="7269480" y="4069080"/>
            <a:ext cx="822960" cy="0"/>
          </a:xfrm>
          <a:prstGeom prst="line">
            <a:avLst/>
          </a:prstGeom>
          <a:noFill/>
          <a:ln w="25400">
            <a:solidFill>
              <a:srgbClr val="4B5563"/>
            </a:solidFill>
            <a:prstDash val="solid"/>
            <a:headEnd type="none"/>
            <a:tailEnd type="triangle"/>
          </a:ln>
        </p:spPr>
        <p:txBody>
          <a:bodyPr/>
          <a:lstStyle/>
          <a:p>
            <a:endParaRPr lang="en-US"/>
          </a:p>
        </p:txBody>
      </p:sp>
      <p:sp>
        <p:nvSpPr>
          <p:cNvPr id="20" name="Shape 18"/>
          <p:cNvSpPr/>
          <p:nvPr/>
        </p:nvSpPr>
        <p:spPr>
          <a:xfrm>
            <a:off x="6355080" y="5532120"/>
            <a:ext cx="4892040" cy="438912"/>
          </a:xfrm>
          <a:prstGeom prst="roundRect">
            <a:avLst>
              <a:gd name="adj" fmla="val 29167"/>
            </a:avLst>
          </a:prstGeom>
          <a:solidFill>
            <a:srgbClr val="FFFFFF"/>
          </a:solidFill>
          <a:ln w="12700">
            <a:solidFill>
              <a:srgbClr val="E5E7EB"/>
            </a:solidFill>
            <a:prstDash val="solid"/>
          </a:ln>
        </p:spPr>
        <p:txBody>
          <a:bodyPr/>
          <a:lstStyle/>
          <a:p>
            <a:endParaRPr lang="en-US"/>
          </a:p>
        </p:txBody>
      </p:sp>
      <p:sp>
        <p:nvSpPr>
          <p:cNvPr id="21" name="Text 19"/>
          <p:cNvSpPr/>
          <p:nvPr/>
        </p:nvSpPr>
        <p:spPr>
          <a:xfrm>
            <a:off x="6483096" y="5623560"/>
            <a:ext cx="4636008" cy="256032"/>
          </a:xfrm>
          <a:prstGeom prst="rect">
            <a:avLst/>
          </a:prstGeom>
          <a:noFill/>
          <a:ln/>
        </p:spPr>
        <p:txBody>
          <a:bodyPr wrap="square" lIns="127" tIns="127" rIns="127" bIns="127" rtlCol="0" anchor="ctr">
            <a:normAutofit fontScale="62500" lnSpcReduction="20000"/>
          </a:bodyPr>
          <a:lstStyle/>
          <a:p>
            <a:pPr marL="0" indent="0">
              <a:buNone/>
            </a:pPr>
            <a:r>
              <a:rPr lang="en-US" sz="1500" b="1" dirty="0">
                <a:solidFill>
                  <a:srgbClr val="0B1F33"/>
                </a:solidFill>
                <a:latin typeface="Aptos" pitchFamily="34" charset="0"/>
                <a:ea typeface="Aptos" pitchFamily="34" charset="-122"/>
                <a:cs typeface="Aptos" pitchFamily="34" charset="-120"/>
              </a:rPr>
              <a:t>Example opening: “We asked whether imagined movement becomes reliable enough to trigger therapy.”</a:t>
            </a:r>
            <a:endParaRPr lang="en-US" sz="1500" dirty="0"/>
          </a:p>
        </p:txBody>
      </p:sp>
      <p:sp>
        <p:nvSpPr>
          <p:cNvPr id="22" name="Text 20"/>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Do: emotional/clinical hook. Don’t: open with “we used CSP and LDA.”</a:t>
            </a:r>
            <a:endParaRPr lang="en-US" sz="740" dirty="0"/>
          </a:p>
        </p:txBody>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2 — Dataset: explain the experiment clearly</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13232" y="1353312"/>
            <a:ext cx="5120640" cy="411480"/>
          </a:xfrm>
          <a:prstGeom prst="rect">
            <a:avLst/>
          </a:prstGeom>
          <a:noFill/>
          <a:ln/>
        </p:spPr>
        <p:txBody>
          <a:bodyPr wrap="square" lIns="381" tIns="381" rIns="381" bIns="381" rtlCol="0" anchor="ctr">
            <a:normAutofit fontScale="85000" lnSpcReduction="10000"/>
          </a:bodyPr>
          <a:lstStyle/>
          <a:p>
            <a:pPr marL="0" indent="0">
              <a:buNone/>
            </a:pPr>
            <a:r>
              <a:rPr lang="en-US" sz="1700" dirty="0">
                <a:solidFill>
                  <a:srgbClr val="4B5563"/>
                </a:solidFill>
                <a:latin typeface="Aptos" pitchFamily="34" charset="0"/>
                <a:ea typeface="Aptos" pitchFamily="34" charset="-122"/>
                <a:cs typeface="Aptos" pitchFamily="34" charset="-120"/>
              </a:rPr>
              <a:t>Use one visual to show the full structure: PRE session, POST session, training run, test run, and the 8-second trial timeline.</a:t>
            </a:r>
            <a:endParaRPr lang="en-US" sz="1700" dirty="0"/>
          </a:p>
        </p:txBody>
      </p:sp>
      <p:sp>
        <p:nvSpPr>
          <p:cNvPr id="6" name="Text 4"/>
          <p:cNvSpPr/>
          <p:nvPr/>
        </p:nvSpPr>
        <p:spPr>
          <a:xfrm>
            <a:off x="3886200" y="1965960"/>
            <a:ext cx="4023360" cy="274320"/>
          </a:xfrm>
          <a:prstGeom prst="rect">
            <a:avLst/>
          </a:prstGeom>
          <a:noFill/>
          <a:ln/>
        </p:spPr>
        <p:txBody>
          <a:bodyPr wrap="square" lIns="0" tIns="0" rIns="0" bIns="0" rtlCol="0" anchor="ctr"/>
          <a:lstStyle/>
          <a:p>
            <a:pPr marL="0" indent="0" algn="ctr">
              <a:buNone/>
            </a:pPr>
            <a:r>
              <a:rPr lang="en-US" sz="1500" b="1" dirty="0">
                <a:solidFill>
                  <a:srgbClr val="0B1F33"/>
                </a:solidFill>
              </a:rPr>
              <a:t>25 BCI treatment sessions</a:t>
            </a:r>
            <a:endParaRPr lang="en-US" sz="1500" dirty="0"/>
          </a:p>
        </p:txBody>
      </p:sp>
      <p:sp>
        <p:nvSpPr>
          <p:cNvPr id="7" name="Shape 5"/>
          <p:cNvSpPr/>
          <p:nvPr/>
        </p:nvSpPr>
        <p:spPr>
          <a:xfrm>
            <a:off x="1828800" y="2423160"/>
            <a:ext cx="7955280" cy="0"/>
          </a:xfrm>
          <a:prstGeom prst="line">
            <a:avLst/>
          </a:prstGeom>
          <a:noFill/>
          <a:ln w="101600">
            <a:solidFill>
              <a:srgbClr val="E5E7EB"/>
            </a:solidFill>
            <a:prstDash val="solid"/>
            <a:headEnd type="none"/>
            <a:tailEnd type="triangle"/>
          </a:ln>
        </p:spPr>
        <p:txBody>
          <a:bodyPr/>
          <a:lstStyle/>
          <a:p>
            <a:endParaRPr lang="en-US"/>
          </a:p>
        </p:txBody>
      </p:sp>
      <p:sp>
        <p:nvSpPr>
          <p:cNvPr id="8" name="Shape 6"/>
          <p:cNvSpPr/>
          <p:nvPr/>
        </p:nvSpPr>
        <p:spPr>
          <a:xfrm>
            <a:off x="1051560" y="2148840"/>
            <a:ext cx="1051560" cy="566928"/>
          </a:xfrm>
          <a:prstGeom prst="roundRect">
            <a:avLst>
              <a:gd name="adj" fmla="val 22581"/>
            </a:avLst>
          </a:prstGeom>
          <a:solidFill>
            <a:srgbClr val="0E7C7B"/>
          </a:solidFill>
          <a:ln w="12700">
            <a:solidFill>
              <a:srgbClr val="0E7C7B"/>
            </a:solidFill>
            <a:prstDash val="solid"/>
          </a:ln>
        </p:spPr>
        <p:txBody>
          <a:bodyPr/>
          <a:lstStyle/>
          <a:p>
            <a:endParaRPr lang="en-US"/>
          </a:p>
        </p:txBody>
      </p:sp>
      <p:sp>
        <p:nvSpPr>
          <p:cNvPr id="9" name="Text 7"/>
          <p:cNvSpPr/>
          <p:nvPr/>
        </p:nvSpPr>
        <p:spPr>
          <a:xfrm>
            <a:off x="1179576" y="2240280"/>
            <a:ext cx="795528" cy="384048"/>
          </a:xfrm>
          <a:prstGeom prst="rect">
            <a:avLst/>
          </a:prstGeom>
          <a:noFill/>
          <a:ln/>
        </p:spPr>
        <p:txBody>
          <a:bodyPr wrap="square" lIns="127" tIns="127" rIns="127" bIns="127" rtlCol="0" anchor="ctr">
            <a:normAutofit/>
          </a:bodyPr>
          <a:lstStyle/>
          <a:p>
            <a:pPr marL="0" indent="0">
              <a:buNone/>
            </a:pPr>
            <a:r>
              <a:rPr lang="en-US" sz="1800" b="1" dirty="0">
                <a:solidFill>
                  <a:srgbClr val="FFFFFF"/>
                </a:solidFill>
                <a:latin typeface="Aptos" pitchFamily="34" charset="0"/>
                <a:ea typeface="Aptos" pitchFamily="34" charset="-122"/>
                <a:cs typeface="Aptos" pitchFamily="34" charset="-120"/>
              </a:rPr>
              <a:t>PRE</a:t>
            </a:r>
            <a:endParaRPr lang="en-US" sz="1800" dirty="0"/>
          </a:p>
        </p:txBody>
      </p:sp>
      <p:sp>
        <p:nvSpPr>
          <p:cNvPr id="10" name="Shape 8"/>
          <p:cNvSpPr/>
          <p:nvPr/>
        </p:nvSpPr>
        <p:spPr>
          <a:xfrm>
            <a:off x="9555480" y="2148840"/>
            <a:ext cx="1051560" cy="566928"/>
          </a:xfrm>
          <a:prstGeom prst="roundRect">
            <a:avLst>
              <a:gd name="adj" fmla="val 22581"/>
            </a:avLst>
          </a:prstGeom>
          <a:solidFill>
            <a:srgbClr val="0B1F33"/>
          </a:solidFill>
          <a:ln w="12700">
            <a:solidFill>
              <a:srgbClr val="0B1F33"/>
            </a:solidFill>
            <a:prstDash val="solid"/>
          </a:ln>
        </p:spPr>
        <p:txBody>
          <a:bodyPr/>
          <a:lstStyle/>
          <a:p>
            <a:endParaRPr lang="en-US"/>
          </a:p>
        </p:txBody>
      </p:sp>
      <p:sp>
        <p:nvSpPr>
          <p:cNvPr id="11" name="Text 9"/>
          <p:cNvSpPr/>
          <p:nvPr/>
        </p:nvSpPr>
        <p:spPr>
          <a:xfrm>
            <a:off x="9683496" y="2240280"/>
            <a:ext cx="795528" cy="384048"/>
          </a:xfrm>
          <a:prstGeom prst="rect">
            <a:avLst/>
          </a:prstGeom>
          <a:noFill/>
          <a:ln/>
        </p:spPr>
        <p:txBody>
          <a:bodyPr wrap="square" lIns="127" tIns="127" rIns="127" bIns="127" rtlCol="0" anchor="ctr">
            <a:normAutofit/>
          </a:bodyPr>
          <a:lstStyle/>
          <a:p>
            <a:pPr marL="0" indent="0">
              <a:buNone/>
            </a:pPr>
            <a:r>
              <a:rPr lang="en-US" sz="1800" b="1" dirty="0">
                <a:solidFill>
                  <a:srgbClr val="FFFFFF"/>
                </a:solidFill>
                <a:latin typeface="Aptos" pitchFamily="34" charset="0"/>
                <a:ea typeface="Aptos" pitchFamily="34" charset="-122"/>
                <a:cs typeface="Aptos" pitchFamily="34" charset="-120"/>
              </a:rPr>
              <a:t>POST</a:t>
            </a:r>
            <a:endParaRPr lang="en-US" sz="1800" dirty="0"/>
          </a:p>
        </p:txBody>
      </p:sp>
      <p:sp>
        <p:nvSpPr>
          <p:cNvPr id="12" name="Shape 10"/>
          <p:cNvSpPr/>
          <p:nvPr/>
        </p:nvSpPr>
        <p:spPr>
          <a:xfrm>
            <a:off x="2011680" y="3429000"/>
            <a:ext cx="3154680" cy="960120"/>
          </a:xfrm>
          <a:prstGeom prst="roundRect">
            <a:avLst>
              <a:gd name="adj" fmla="val 13333"/>
            </a:avLst>
          </a:prstGeom>
          <a:solidFill>
            <a:srgbClr val="FFFFFF"/>
          </a:solidFill>
          <a:ln w="12700">
            <a:solidFill>
              <a:srgbClr val="0E7C7B"/>
            </a:solidFill>
            <a:prstDash val="solid"/>
          </a:ln>
        </p:spPr>
        <p:txBody>
          <a:bodyPr/>
          <a:lstStyle/>
          <a:p>
            <a:endParaRPr lang="en-US"/>
          </a:p>
        </p:txBody>
      </p:sp>
      <p:sp>
        <p:nvSpPr>
          <p:cNvPr id="13" name="Text 11"/>
          <p:cNvSpPr/>
          <p:nvPr/>
        </p:nvSpPr>
        <p:spPr>
          <a:xfrm>
            <a:off x="2139696" y="3520440"/>
            <a:ext cx="2898648" cy="777240"/>
          </a:xfrm>
          <a:prstGeom prst="rect">
            <a:avLst/>
          </a:prstGeom>
          <a:noFill/>
          <a:ln/>
        </p:spPr>
        <p:txBody>
          <a:bodyPr wrap="square" lIns="127" tIns="127" rIns="127" bIns="127" rtlCol="0" anchor="ctr">
            <a:normAutofit/>
          </a:bodyPr>
          <a:lstStyle/>
          <a:p>
            <a:pPr marL="0" indent="0">
              <a:buNone/>
            </a:pPr>
            <a:r>
              <a:rPr lang="en-US" sz="1500" b="1" dirty="0">
                <a:solidFill>
                  <a:srgbClr val="0B1F33"/>
                </a:solidFill>
                <a:latin typeface="Aptos" pitchFamily="34" charset="0"/>
                <a:ea typeface="Aptos" pitchFamily="34" charset="-122"/>
                <a:cs typeface="Aptos" pitchFamily="34" charset="-120"/>
              </a:rPr>
              <a:t>TRAINING run</a:t>
            </a:r>
            <a:endParaRPr lang="en-US" sz="1500" dirty="0"/>
          </a:p>
          <a:p>
            <a:pPr marL="0" indent="0">
              <a:buNone/>
            </a:pPr>
            <a:r>
              <a:rPr lang="en-US" sz="1500" b="1" dirty="0">
                <a:solidFill>
                  <a:srgbClr val="0B1F33"/>
                </a:solidFill>
                <a:latin typeface="Aptos" pitchFamily="34" charset="0"/>
                <a:ea typeface="Aptos" pitchFamily="34" charset="-122"/>
                <a:cs typeface="Aptos" pitchFamily="34" charset="-120"/>
              </a:rPr>
              <a:t>80 trials → calibrate model</a:t>
            </a:r>
            <a:endParaRPr lang="en-US" sz="1500" dirty="0"/>
          </a:p>
        </p:txBody>
      </p:sp>
      <p:sp>
        <p:nvSpPr>
          <p:cNvPr id="14" name="Shape 12"/>
          <p:cNvSpPr/>
          <p:nvPr/>
        </p:nvSpPr>
        <p:spPr>
          <a:xfrm>
            <a:off x="5257800" y="3913632"/>
            <a:ext cx="1307592" cy="0"/>
          </a:xfrm>
          <a:prstGeom prst="line">
            <a:avLst/>
          </a:prstGeom>
          <a:noFill/>
          <a:ln w="25400">
            <a:solidFill>
              <a:srgbClr val="4B5563"/>
            </a:solidFill>
            <a:prstDash val="solid"/>
            <a:headEnd type="none"/>
            <a:tailEnd type="triangle"/>
          </a:ln>
        </p:spPr>
        <p:txBody>
          <a:bodyPr/>
          <a:lstStyle/>
          <a:p>
            <a:endParaRPr lang="en-US"/>
          </a:p>
        </p:txBody>
      </p:sp>
      <p:sp>
        <p:nvSpPr>
          <p:cNvPr id="15" name="Shape 13"/>
          <p:cNvSpPr/>
          <p:nvPr/>
        </p:nvSpPr>
        <p:spPr>
          <a:xfrm>
            <a:off x="6720840" y="3429000"/>
            <a:ext cx="3154680" cy="960120"/>
          </a:xfrm>
          <a:prstGeom prst="roundRect">
            <a:avLst>
              <a:gd name="adj" fmla="val 13333"/>
            </a:avLst>
          </a:prstGeom>
          <a:solidFill>
            <a:srgbClr val="FFFFFF"/>
          </a:solidFill>
          <a:ln w="12700">
            <a:solidFill>
              <a:srgbClr val="FF6B5A"/>
            </a:solidFill>
            <a:prstDash val="solid"/>
          </a:ln>
        </p:spPr>
        <p:txBody>
          <a:bodyPr/>
          <a:lstStyle/>
          <a:p>
            <a:endParaRPr lang="en-US"/>
          </a:p>
        </p:txBody>
      </p:sp>
      <p:sp>
        <p:nvSpPr>
          <p:cNvPr id="16" name="Text 14"/>
          <p:cNvSpPr/>
          <p:nvPr/>
        </p:nvSpPr>
        <p:spPr>
          <a:xfrm>
            <a:off x="6848856" y="3520440"/>
            <a:ext cx="2898648" cy="777240"/>
          </a:xfrm>
          <a:prstGeom prst="rect">
            <a:avLst/>
          </a:prstGeom>
          <a:noFill/>
          <a:ln/>
        </p:spPr>
        <p:txBody>
          <a:bodyPr wrap="square" lIns="127" tIns="127" rIns="127" bIns="127" rtlCol="0" anchor="ctr">
            <a:normAutofit/>
          </a:bodyPr>
          <a:lstStyle/>
          <a:p>
            <a:pPr marL="0" indent="0">
              <a:buNone/>
            </a:pPr>
            <a:r>
              <a:rPr lang="en-US" sz="1500" b="1" dirty="0">
                <a:solidFill>
                  <a:srgbClr val="0B1F33"/>
                </a:solidFill>
                <a:latin typeface="Aptos" pitchFamily="34" charset="0"/>
                <a:ea typeface="Aptos" pitchFamily="34" charset="-122"/>
                <a:cs typeface="Aptos" pitchFamily="34" charset="-120"/>
              </a:rPr>
              <a:t>TEST run</a:t>
            </a:r>
            <a:endParaRPr lang="en-US" sz="1500" dirty="0"/>
          </a:p>
          <a:p>
            <a:pPr marL="0" indent="0">
              <a:buNone/>
            </a:pPr>
            <a:r>
              <a:rPr lang="en-US" sz="1500" b="1" dirty="0">
                <a:solidFill>
                  <a:srgbClr val="0B1F33"/>
                </a:solidFill>
                <a:latin typeface="Aptos" pitchFamily="34" charset="0"/>
                <a:ea typeface="Aptos" pitchFamily="34" charset="-122"/>
                <a:cs typeface="Aptos" pitchFamily="34" charset="-120"/>
              </a:rPr>
              <a:t>80 trials → evaluate feedback</a:t>
            </a:r>
            <a:endParaRPr lang="en-US" sz="1500" dirty="0"/>
          </a:p>
        </p:txBody>
      </p:sp>
      <p:sp>
        <p:nvSpPr>
          <p:cNvPr id="17" name="Text 15"/>
          <p:cNvSpPr/>
          <p:nvPr/>
        </p:nvSpPr>
        <p:spPr>
          <a:xfrm>
            <a:off x="1051560" y="5120640"/>
            <a:ext cx="1280160" cy="228600"/>
          </a:xfrm>
          <a:prstGeom prst="rect">
            <a:avLst/>
          </a:prstGeom>
          <a:noFill/>
          <a:ln/>
        </p:spPr>
        <p:txBody>
          <a:bodyPr wrap="square" lIns="0" tIns="0" rIns="0" bIns="0" rtlCol="0" anchor="ctr"/>
          <a:lstStyle/>
          <a:p>
            <a:pPr marL="0" indent="0">
              <a:buNone/>
            </a:pPr>
            <a:r>
              <a:rPr lang="en-US" sz="1000" b="1" dirty="0">
                <a:solidFill>
                  <a:srgbClr val="0E7C7B"/>
                </a:solidFill>
              </a:rPr>
              <a:t>Trial idea</a:t>
            </a:r>
            <a:endParaRPr lang="en-US" sz="1000" dirty="0"/>
          </a:p>
        </p:txBody>
      </p:sp>
      <p:sp>
        <p:nvSpPr>
          <p:cNvPr id="18" name="Shape 16"/>
          <p:cNvSpPr/>
          <p:nvPr/>
        </p:nvSpPr>
        <p:spPr>
          <a:xfrm>
            <a:off x="1965960" y="5650992"/>
            <a:ext cx="8138160" cy="0"/>
          </a:xfrm>
          <a:prstGeom prst="line">
            <a:avLst/>
          </a:prstGeom>
          <a:noFill/>
          <a:ln w="19050">
            <a:solidFill>
              <a:srgbClr val="4B5563"/>
            </a:solidFill>
            <a:prstDash val="solid"/>
            <a:headEnd type="none"/>
            <a:tailEnd type="triangle"/>
          </a:ln>
        </p:spPr>
        <p:txBody>
          <a:bodyPr/>
          <a:lstStyle/>
          <a:p>
            <a:endParaRPr lang="en-US"/>
          </a:p>
        </p:txBody>
      </p:sp>
      <p:sp>
        <p:nvSpPr>
          <p:cNvPr id="19" name="Shape 17"/>
          <p:cNvSpPr/>
          <p:nvPr/>
        </p:nvSpPr>
        <p:spPr>
          <a:xfrm>
            <a:off x="1920240" y="5522976"/>
            <a:ext cx="0" cy="256032"/>
          </a:xfrm>
          <a:prstGeom prst="line">
            <a:avLst/>
          </a:prstGeom>
          <a:noFill/>
          <a:ln w="12700">
            <a:solidFill>
              <a:srgbClr val="4B5563"/>
            </a:solidFill>
            <a:prstDash val="solid"/>
          </a:ln>
        </p:spPr>
        <p:txBody>
          <a:bodyPr/>
          <a:lstStyle/>
          <a:p>
            <a:endParaRPr lang="en-US"/>
          </a:p>
        </p:txBody>
      </p:sp>
      <p:sp>
        <p:nvSpPr>
          <p:cNvPr id="20" name="Text 18"/>
          <p:cNvSpPr/>
          <p:nvPr/>
        </p:nvSpPr>
        <p:spPr>
          <a:xfrm>
            <a:off x="1691640" y="5806440"/>
            <a:ext cx="640080" cy="228600"/>
          </a:xfrm>
          <a:prstGeom prst="rect">
            <a:avLst/>
          </a:prstGeom>
          <a:noFill/>
          <a:ln/>
        </p:spPr>
        <p:txBody>
          <a:bodyPr wrap="square" lIns="0" tIns="0" rIns="0" bIns="0" rtlCol="0" anchor="ctr"/>
          <a:lstStyle/>
          <a:p>
            <a:pPr marL="0" indent="0" algn="ctr">
              <a:buNone/>
            </a:pPr>
            <a:r>
              <a:rPr lang="en-US" sz="900" dirty="0">
                <a:solidFill>
                  <a:srgbClr val="4B5563"/>
                </a:solidFill>
              </a:rPr>
              <a:t>0</a:t>
            </a:r>
            <a:endParaRPr lang="en-US" sz="900" dirty="0"/>
          </a:p>
        </p:txBody>
      </p:sp>
      <p:sp>
        <p:nvSpPr>
          <p:cNvPr id="21" name="Shape 19"/>
          <p:cNvSpPr/>
          <p:nvPr/>
        </p:nvSpPr>
        <p:spPr>
          <a:xfrm>
            <a:off x="3840480" y="5522976"/>
            <a:ext cx="0" cy="256032"/>
          </a:xfrm>
          <a:prstGeom prst="line">
            <a:avLst/>
          </a:prstGeom>
          <a:noFill/>
          <a:ln w="12700">
            <a:solidFill>
              <a:srgbClr val="4B5563"/>
            </a:solidFill>
            <a:prstDash val="solid"/>
          </a:ln>
        </p:spPr>
        <p:txBody>
          <a:bodyPr/>
          <a:lstStyle/>
          <a:p>
            <a:endParaRPr lang="en-US"/>
          </a:p>
        </p:txBody>
      </p:sp>
      <p:sp>
        <p:nvSpPr>
          <p:cNvPr id="22" name="Text 20"/>
          <p:cNvSpPr/>
          <p:nvPr/>
        </p:nvSpPr>
        <p:spPr>
          <a:xfrm>
            <a:off x="3611880" y="5806440"/>
            <a:ext cx="640080" cy="228600"/>
          </a:xfrm>
          <a:prstGeom prst="rect">
            <a:avLst/>
          </a:prstGeom>
          <a:noFill/>
          <a:ln/>
        </p:spPr>
        <p:txBody>
          <a:bodyPr wrap="square" lIns="0" tIns="0" rIns="0" bIns="0" rtlCol="0" anchor="ctr"/>
          <a:lstStyle/>
          <a:p>
            <a:pPr marL="0" indent="0" algn="ctr">
              <a:buNone/>
            </a:pPr>
            <a:r>
              <a:rPr lang="en-US" sz="900" dirty="0">
                <a:solidFill>
                  <a:srgbClr val="4B5563"/>
                </a:solidFill>
              </a:rPr>
              <a:t>2s cue</a:t>
            </a:r>
            <a:endParaRPr lang="en-US" sz="900" dirty="0"/>
          </a:p>
        </p:txBody>
      </p:sp>
      <p:sp>
        <p:nvSpPr>
          <p:cNvPr id="23" name="Shape 21"/>
          <p:cNvSpPr/>
          <p:nvPr/>
        </p:nvSpPr>
        <p:spPr>
          <a:xfrm>
            <a:off x="9646920" y="5522976"/>
            <a:ext cx="0" cy="256032"/>
          </a:xfrm>
          <a:prstGeom prst="line">
            <a:avLst/>
          </a:prstGeom>
          <a:noFill/>
          <a:ln w="12700">
            <a:solidFill>
              <a:srgbClr val="4B5563"/>
            </a:solidFill>
            <a:prstDash val="solid"/>
          </a:ln>
        </p:spPr>
        <p:txBody>
          <a:bodyPr/>
          <a:lstStyle/>
          <a:p>
            <a:endParaRPr lang="en-US"/>
          </a:p>
        </p:txBody>
      </p:sp>
      <p:sp>
        <p:nvSpPr>
          <p:cNvPr id="24" name="Text 22"/>
          <p:cNvSpPr/>
          <p:nvPr/>
        </p:nvSpPr>
        <p:spPr>
          <a:xfrm>
            <a:off x="9418320" y="5806440"/>
            <a:ext cx="640080" cy="228600"/>
          </a:xfrm>
          <a:prstGeom prst="rect">
            <a:avLst/>
          </a:prstGeom>
          <a:noFill/>
          <a:ln/>
        </p:spPr>
        <p:txBody>
          <a:bodyPr wrap="square" lIns="0" tIns="0" rIns="0" bIns="0" rtlCol="0" anchor="ctr"/>
          <a:lstStyle/>
          <a:p>
            <a:pPr marL="0" indent="0" algn="ctr">
              <a:buNone/>
            </a:pPr>
            <a:r>
              <a:rPr lang="en-US" sz="900" dirty="0">
                <a:solidFill>
                  <a:srgbClr val="4B5563"/>
                </a:solidFill>
              </a:rPr>
              <a:t>8s end</a:t>
            </a:r>
            <a:endParaRPr lang="en-US" sz="900" dirty="0"/>
          </a:p>
        </p:txBody>
      </p:sp>
      <p:sp>
        <p:nvSpPr>
          <p:cNvPr id="25" name="Shape 23"/>
          <p:cNvSpPr/>
          <p:nvPr/>
        </p:nvSpPr>
        <p:spPr>
          <a:xfrm>
            <a:off x="3840480" y="5349240"/>
            <a:ext cx="5806440" cy="420624"/>
          </a:xfrm>
          <a:prstGeom prst="roundRect">
            <a:avLst>
              <a:gd name="adj" fmla="val 30435"/>
            </a:avLst>
          </a:prstGeom>
          <a:solidFill>
            <a:srgbClr val="E6F5F3"/>
          </a:solidFill>
          <a:ln w="12700">
            <a:solidFill>
              <a:srgbClr val="0E7C7B"/>
            </a:solidFill>
            <a:prstDash val="solid"/>
          </a:ln>
        </p:spPr>
        <p:txBody>
          <a:bodyPr/>
          <a:lstStyle/>
          <a:p>
            <a:endParaRPr lang="en-US"/>
          </a:p>
        </p:txBody>
      </p:sp>
      <p:sp>
        <p:nvSpPr>
          <p:cNvPr id="26" name="Text 24"/>
          <p:cNvSpPr/>
          <p:nvPr/>
        </p:nvSpPr>
        <p:spPr>
          <a:xfrm>
            <a:off x="3968496" y="5440680"/>
            <a:ext cx="5550408" cy="237744"/>
          </a:xfrm>
          <a:prstGeom prst="rect">
            <a:avLst/>
          </a:prstGeom>
          <a:noFill/>
          <a:ln/>
        </p:spPr>
        <p:txBody>
          <a:bodyPr wrap="square" lIns="127" tIns="127" rIns="127" bIns="127" rtlCol="0" anchor="ctr">
            <a:normAutofit/>
          </a:bodyPr>
          <a:lstStyle/>
          <a:p>
            <a:pPr marL="0" indent="0">
              <a:buNone/>
            </a:pPr>
            <a:r>
              <a:rPr lang="en-US" sz="1300" dirty="0">
                <a:solidFill>
                  <a:srgbClr val="0B1F33"/>
                </a:solidFill>
                <a:latin typeface="Aptos" pitchFamily="34" charset="0"/>
                <a:ea typeface="Aptos" pitchFamily="34" charset="-122"/>
                <a:cs typeface="Aptos" pitchFamily="34" charset="-120"/>
              </a:rPr>
              <a:t>Task period: imagine left or right hand movement</a:t>
            </a:r>
            <a:endParaRPr lang="en-US" sz="1300" dirty="0"/>
          </a:p>
        </p:txBody>
      </p:sp>
      <p:sp>
        <p:nvSpPr>
          <p:cNvPr id="27" name="Text 25"/>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Dataset claim to include: PRE/POST sessions; training calibrates the model; test evaluates real-time feedback decisions.</a:t>
            </a:r>
            <a:endParaRPr lang="en-US" sz="740" dirty="0"/>
          </a:p>
        </p:txBody>
      </p:sp>
      <p:sp>
        <p:nvSpPr>
          <p:cNvPr id="28"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3 — Research question: sharpen the aim</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77240" y="1481328"/>
            <a:ext cx="5120640" cy="475488"/>
          </a:xfrm>
          <a:prstGeom prst="rect">
            <a:avLst/>
          </a:prstGeom>
          <a:noFill/>
          <a:ln/>
        </p:spPr>
        <p:txBody>
          <a:bodyPr wrap="square" lIns="0" tIns="0" rIns="0" bIns="0" rtlCol="0" anchor="ctr">
            <a:normAutofit fontScale="85000" lnSpcReduction="10000"/>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Do not ask only “which model is best?”</a:t>
            </a:r>
            <a:endParaRPr lang="en-US" sz="2700" dirty="0"/>
          </a:p>
        </p:txBody>
      </p:sp>
      <p:sp>
        <p:nvSpPr>
          <p:cNvPr id="6" name="Text 4"/>
          <p:cNvSpPr/>
          <p:nvPr/>
        </p:nvSpPr>
        <p:spPr>
          <a:xfrm>
            <a:off x="786384" y="2084832"/>
            <a:ext cx="5120640" cy="292608"/>
          </a:xfrm>
          <a:prstGeom prst="rect">
            <a:avLst/>
          </a:prstGeom>
          <a:noFill/>
          <a:ln/>
        </p:spPr>
        <p:txBody>
          <a:bodyPr wrap="square" lIns="0" tIns="0" rIns="0" bIns="0" rtlCol="0" anchor="ctr"/>
          <a:lstStyle/>
          <a:p>
            <a:pPr marL="0" indent="0">
              <a:buNone/>
            </a:pPr>
            <a:r>
              <a:rPr lang="en-US" sz="1700" b="1" dirty="0">
                <a:solidFill>
                  <a:srgbClr val="0E7C7B"/>
                </a:solidFill>
              </a:rPr>
              <a:t>Ask a clinical machine-learning question:</a:t>
            </a:r>
            <a:endParaRPr lang="en-US" sz="1700" dirty="0"/>
          </a:p>
        </p:txBody>
      </p:sp>
      <p:sp>
        <p:nvSpPr>
          <p:cNvPr id="7" name="Shape 5"/>
          <p:cNvSpPr/>
          <p:nvPr/>
        </p:nvSpPr>
        <p:spPr>
          <a:xfrm>
            <a:off x="868680" y="2743200"/>
            <a:ext cx="475488" cy="475488"/>
          </a:xfrm>
          <a:prstGeom prst="ellipse">
            <a:avLst/>
          </a:prstGeom>
          <a:solidFill>
            <a:srgbClr val="0E7C7B"/>
          </a:solidFill>
          <a:ln w="12700">
            <a:solidFill>
              <a:srgbClr val="0E7C7B"/>
            </a:solidFill>
            <a:prstDash val="solid"/>
          </a:ln>
        </p:spPr>
        <p:txBody>
          <a:bodyPr/>
          <a:lstStyle/>
          <a:p>
            <a:endParaRPr lang="en-US"/>
          </a:p>
        </p:txBody>
      </p:sp>
      <p:sp>
        <p:nvSpPr>
          <p:cNvPr id="8" name="Text 6"/>
          <p:cNvSpPr/>
          <p:nvPr/>
        </p:nvSpPr>
        <p:spPr>
          <a:xfrm>
            <a:off x="941832" y="2843784"/>
            <a:ext cx="329184"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1</a:t>
            </a:r>
            <a:endParaRPr lang="en-US" sz="1300" dirty="0"/>
          </a:p>
        </p:txBody>
      </p:sp>
      <p:sp>
        <p:nvSpPr>
          <p:cNvPr id="9" name="Text 7"/>
          <p:cNvSpPr/>
          <p:nvPr/>
        </p:nvSpPr>
        <p:spPr>
          <a:xfrm>
            <a:off x="1508760" y="2807208"/>
            <a:ext cx="5212080" cy="347472"/>
          </a:xfrm>
          <a:prstGeom prst="rect">
            <a:avLst/>
          </a:prstGeom>
          <a:noFill/>
          <a:ln/>
        </p:spPr>
        <p:txBody>
          <a:bodyPr wrap="square" lIns="127" tIns="127" rIns="127" bIns="127" rtlCol="0" anchor="ctr">
            <a:normAutofit fontScale="85000" lnSpcReduction="10000"/>
          </a:bodyPr>
          <a:lstStyle/>
          <a:p>
            <a:pPr marL="0" indent="0">
              <a:buNone/>
            </a:pPr>
            <a:r>
              <a:rPr lang="en-US" sz="1800" dirty="0">
                <a:solidFill>
                  <a:srgbClr val="0B1F33"/>
                </a:solidFill>
              </a:rPr>
              <a:t>Can we decode left vs right motor imagery above chance?</a:t>
            </a:r>
            <a:endParaRPr lang="en-US" sz="1800" dirty="0"/>
          </a:p>
        </p:txBody>
      </p:sp>
      <p:sp>
        <p:nvSpPr>
          <p:cNvPr id="10" name="Shape 8"/>
          <p:cNvSpPr/>
          <p:nvPr/>
        </p:nvSpPr>
        <p:spPr>
          <a:xfrm>
            <a:off x="868680" y="3749040"/>
            <a:ext cx="475488" cy="475488"/>
          </a:xfrm>
          <a:prstGeom prst="ellipse">
            <a:avLst/>
          </a:prstGeom>
          <a:solidFill>
            <a:srgbClr val="3B82F6"/>
          </a:solidFill>
          <a:ln w="12700">
            <a:solidFill>
              <a:srgbClr val="3B82F6"/>
            </a:solidFill>
            <a:prstDash val="solid"/>
          </a:ln>
        </p:spPr>
        <p:txBody>
          <a:bodyPr/>
          <a:lstStyle/>
          <a:p>
            <a:endParaRPr lang="en-US"/>
          </a:p>
        </p:txBody>
      </p:sp>
      <p:sp>
        <p:nvSpPr>
          <p:cNvPr id="11" name="Text 9"/>
          <p:cNvSpPr/>
          <p:nvPr/>
        </p:nvSpPr>
        <p:spPr>
          <a:xfrm>
            <a:off x="941832" y="3849624"/>
            <a:ext cx="329184"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2</a:t>
            </a:r>
            <a:endParaRPr lang="en-US" sz="1300" dirty="0"/>
          </a:p>
        </p:txBody>
      </p:sp>
      <p:sp>
        <p:nvSpPr>
          <p:cNvPr id="12" name="Text 10"/>
          <p:cNvSpPr/>
          <p:nvPr/>
        </p:nvSpPr>
        <p:spPr>
          <a:xfrm>
            <a:off x="1508760" y="3813048"/>
            <a:ext cx="5212080" cy="347472"/>
          </a:xfrm>
          <a:prstGeom prst="rect">
            <a:avLst/>
          </a:prstGeom>
          <a:noFill/>
          <a:ln/>
        </p:spPr>
        <p:txBody>
          <a:bodyPr wrap="square" lIns="127" tIns="127" rIns="127" bIns="127" rtlCol="0" anchor="ctr">
            <a:normAutofit fontScale="85000" lnSpcReduction="10000"/>
          </a:bodyPr>
          <a:lstStyle/>
          <a:p>
            <a:pPr marL="0" indent="0">
              <a:buNone/>
            </a:pPr>
            <a:r>
              <a:rPr lang="en-US" sz="1800" dirty="0">
                <a:solidFill>
                  <a:srgbClr val="0B1F33"/>
                </a:solidFill>
              </a:rPr>
              <a:t>Does decoding improve from PRE to POST rehabilitation?</a:t>
            </a:r>
            <a:endParaRPr lang="en-US" sz="1800" dirty="0"/>
          </a:p>
        </p:txBody>
      </p:sp>
      <p:sp>
        <p:nvSpPr>
          <p:cNvPr id="13" name="Shape 11"/>
          <p:cNvSpPr/>
          <p:nvPr/>
        </p:nvSpPr>
        <p:spPr>
          <a:xfrm>
            <a:off x="868680" y="4754880"/>
            <a:ext cx="475488" cy="475488"/>
          </a:xfrm>
          <a:prstGeom prst="ellipse">
            <a:avLst/>
          </a:prstGeom>
          <a:solidFill>
            <a:srgbClr val="FF6B5A"/>
          </a:solidFill>
          <a:ln w="12700">
            <a:solidFill>
              <a:srgbClr val="FF6B5A"/>
            </a:solidFill>
            <a:prstDash val="solid"/>
          </a:ln>
        </p:spPr>
        <p:txBody>
          <a:bodyPr/>
          <a:lstStyle/>
          <a:p>
            <a:endParaRPr lang="en-US"/>
          </a:p>
        </p:txBody>
      </p:sp>
      <p:sp>
        <p:nvSpPr>
          <p:cNvPr id="14" name="Text 12"/>
          <p:cNvSpPr/>
          <p:nvPr/>
        </p:nvSpPr>
        <p:spPr>
          <a:xfrm>
            <a:off x="941832" y="4855464"/>
            <a:ext cx="329184"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3</a:t>
            </a:r>
            <a:endParaRPr lang="en-US" sz="1300" dirty="0"/>
          </a:p>
        </p:txBody>
      </p:sp>
      <p:sp>
        <p:nvSpPr>
          <p:cNvPr id="15" name="Text 13"/>
          <p:cNvSpPr/>
          <p:nvPr/>
        </p:nvSpPr>
        <p:spPr>
          <a:xfrm>
            <a:off x="1508760" y="4818888"/>
            <a:ext cx="5212080" cy="347472"/>
          </a:xfrm>
          <a:prstGeom prst="rect">
            <a:avLst/>
          </a:prstGeom>
          <a:noFill/>
          <a:ln/>
        </p:spPr>
        <p:txBody>
          <a:bodyPr wrap="square" lIns="127" tIns="127" rIns="127" bIns="127" rtlCol="0" anchor="ctr">
            <a:normAutofit/>
          </a:bodyPr>
          <a:lstStyle/>
          <a:p>
            <a:pPr marL="0" indent="0">
              <a:buNone/>
            </a:pPr>
            <a:r>
              <a:rPr lang="en-US" sz="1800" b="1" dirty="0">
                <a:solidFill>
                  <a:srgbClr val="0B1F33"/>
                </a:solidFill>
              </a:rPr>
              <a:t>Is the model reliable enough to trigger feedback?</a:t>
            </a:r>
            <a:endParaRPr lang="en-US" sz="1800" dirty="0"/>
          </a:p>
        </p:txBody>
      </p:sp>
      <p:sp>
        <p:nvSpPr>
          <p:cNvPr id="16" name="Shape 14"/>
          <p:cNvSpPr/>
          <p:nvPr/>
        </p:nvSpPr>
        <p:spPr>
          <a:xfrm>
            <a:off x="7498080" y="1508760"/>
            <a:ext cx="2926080" cy="914400"/>
          </a:xfrm>
          <a:prstGeom prst="trapezoid">
            <a:avLst/>
          </a:prstGeom>
          <a:solidFill>
            <a:srgbClr val="E6F5F3"/>
          </a:solidFill>
          <a:ln w="12700">
            <a:solidFill>
              <a:srgbClr val="0E7C7B"/>
            </a:solidFill>
            <a:prstDash val="solid"/>
          </a:ln>
        </p:spPr>
        <p:txBody>
          <a:bodyPr/>
          <a:lstStyle/>
          <a:p>
            <a:endParaRPr lang="en-US"/>
          </a:p>
        </p:txBody>
      </p:sp>
      <p:sp>
        <p:nvSpPr>
          <p:cNvPr id="17" name="Text 15"/>
          <p:cNvSpPr/>
          <p:nvPr/>
        </p:nvSpPr>
        <p:spPr>
          <a:xfrm>
            <a:off x="7909560" y="1810512"/>
            <a:ext cx="2103120" cy="320040"/>
          </a:xfrm>
          <a:prstGeom prst="rect">
            <a:avLst/>
          </a:prstGeom>
          <a:noFill/>
          <a:ln/>
        </p:spPr>
        <p:txBody>
          <a:bodyPr wrap="square" lIns="0" tIns="0" rIns="0" bIns="0" rtlCol="0" anchor="ctr"/>
          <a:lstStyle/>
          <a:p>
            <a:pPr marL="0" indent="0" algn="ctr">
              <a:buNone/>
            </a:pPr>
            <a:r>
              <a:rPr lang="en-US" sz="1900" b="1" dirty="0">
                <a:solidFill>
                  <a:srgbClr val="0B1F33"/>
                </a:solidFill>
              </a:rPr>
              <a:t>Accuracy</a:t>
            </a:r>
            <a:endParaRPr lang="en-US" sz="1900" dirty="0"/>
          </a:p>
        </p:txBody>
      </p:sp>
      <p:sp>
        <p:nvSpPr>
          <p:cNvPr id="18" name="Shape 16"/>
          <p:cNvSpPr/>
          <p:nvPr/>
        </p:nvSpPr>
        <p:spPr>
          <a:xfrm>
            <a:off x="7818120" y="2651760"/>
            <a:ext cx="2286000" cy="914400"/>
          </a:xfrm>
          <a:prstGeom prst="trapezoid">
            <a:avLst/>
          </a:prstGeom>
          <a:solidFill>
            <a:srgbClr val="EFF6FF"/>
          </a:solidFill>
          <a:ln w="12700">
            <a:solidFill>
              <a:srgbClr val="3B82F6"/>
            </a:solidFill>
            <a:prstDash val="solid"/>
          </a:ln>
        </p:spPr>
        <p:txBody>
          <a:bodyPr/>
          <a:lstStyle/>
          <a:p>
            <a:endParaRPr lang="en-US"/>
          </a:p>
        </p:txBody>
      </p:sp>
      <p:sp>
        <p:nvSpPr>
          <p:cNvPr id="19" name="Text 17"/>
          <p:cNvSpPr/>
          <p:nvPr/>
        </p:nvSpPr>
        <p:spPr>
          <a:xfrm>
            <a:off x="7955280" y="2953512"/>
            <a:ext cx="1828800" cy="320040"/>
          </a:xfrm>
          <a:prstGeom prst="rect">
            <a:avLst/>
          </a:prstGeom>
          <a:noFill/>
          <a:ln/>
        </p:spPr>
        <p:txBody>
          <a:bodyPr wrap="square" lIns="0" tIns="0" rIns="0" bIns="0" rtlCol="0" anchor="ctr"/>
          <a:lstStyle/>
          <a:p>
            <a:pPr marL="0" indent="0" algn="ctr">
              <a:buNone/>
            </a:pPr>
            <a:r>
              <a:rPr lang="en-US" sz="1900" b="1" dirty="0">
                <a:solidFill>
                  <a:srgbClr val="0B1F33"/>
                </a:solidFill>
              </a:rPr>
              <a:t>Reliability</a:t>
            </a:r>
            <a:endParaRPr lang="en-US" sz="1900" dirty="0"/>
          </a:p>
        </p:txBody>
      </p:sp>
      <p:sp>
        <p:nvSpPr>
          <p:cNvPr id="20" name="Shape 18"/>
          <p:cNvSpPr/>
          <p:nvPr/>
        </p:nvSpPr>
        <p:spPr>
          <a:xfrm>
            <a:off x="8156448" y="3794760"/>
            <a:ext cx="1600200" cy="914400"/>
          </a:xfrm>
          <a:prstGeom prst="trapezoid">
            <a:avLst/>
          </a:prstGeom>
          <a:solidFill>
            <a:srgbClr val="FFF0EE"/>
          </a:solidFill>
          <a:ln w="12700">
            <a:solidFill>
              <a:srgbClr val="FF6B5A"/>
            </a:solidFill>
            <a:prstDash val="solid"/>
          </a:ln>
        </p:spPr>
        <p:txBody>
          <a:bodyPr/>
          <a:lstStyle/>
          <a:p>
            <a:endParaRPr lang="en-US"/>
          </a:p>
        </p:txBody>
      </p:sp>
      <p:sp>
        <p:nvSpPr>
          <p:cNvPr id="21" name="Text 19"/>
          <p:cNvSpPr/>
          <p:nvPr/>
        </p:nvSpPr>
        <p:spPr>
          <a:xfrm>
            <a:off x="8247888" y="4023360"/>
            <a:ext cx="1417320" cy="411480"/>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0B1F33"/>
                </a:solidFill>
              </a:rPr>
              <a:t>Therapy</a:t>
            </a:r>
            <a:endParaRPr lang="en-US" sz="1700" dirty="0"/>
          </a:p>
          <a:p>
            <a:pPr marL="0" indent="0" algn="ctr">
              <a:buNone/>
            </a:pPr>
            <a:r>
              <a:rPr lang="en-US" sz="1700" b="1" dirty="0">
                <a:solidFill>
                  <a:srgbClr val="0B1F33"/>
                </a:solidFill>
              </a:rPr>
              <a:t>impact</a:t>
            </a:r>
            <a:endParaRPr lang="en-US" sz="1700" dirty="0"/>
          </a:p>
        </p:txBody>
      </p:sp>
      <p:sp>
        <p:nvSpPr>
          <p:cNvPr id="22" name="Text 20"/>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This slide protects you from sounding like a generic ML benchmark.</a:t>
            </a:r>
            <a:endParaRPr lang="en-US" sz="740" dirty="0"/>
          </a:p>
        </p:txBody>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fontScale="92500"/>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4 — Methods: show the pipeline, not every detail</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Shape 3"/>
          <p:cNvSpPr/>
          <p:nvPr/>
        </p:nvSpPr>
        <p:spPr>
          <a:xfrm>
            <a:off x="777240" y="2148840"/>
            <a:ext cx="1325880" cy="749808"/>
          </a:xfrm>
          <a:prstGeom prst="roundRect">
            <a:avLst>
              <a:gd name="adj" fmla="val 17073"/>
            </a:avLst>
          </a:prstGeom>
          <a:solidFill>
            <a:srgbClr val="0B1F33"/>
          </a:solidFill>
          <a:ln w="12700">
            <a:solidFill>
              <a:srgbClr val="0B1F33"/>
            </a:solidFill>
            <a:prstDash val="solid"/>
          </a:ln>
        </p:spPr>
        <p:txBody>
          <a:bodyPr/>
          <a:lstStyle/>
          <a:p>
            <a:endParaRPr lang="en-US"/>
          </a:p>
        </p:txBody>
      </p:sp>
      <p:sp>
        <p:nvSpPr>
          <p:cNvPr id="6" name="Text 4"/>
          <p:cNvSpPr/>
          <p:nvPr/>
        </p:nvSpPr>
        <p:spPr>
          <a:xfrm>
            <a:off x="905256" y="2240280"/>
            <a:ext cx="106984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Raw EEG</a:t>
            </a:r>
            <a:endParaRPr lang="en-US" sz="1300" dirty="0"/>
          </a:p>
        </p:txBody>
      </p:sp>
      <p:sp>
        <p:nvSpPr>
          <p:cNvPr id="7" name="Shape 5"/>
          <p:cNvSpPr/>
          <p:nvPr/>
        </p:nvSpPr>
        <p:spPr>
          <a:xfrm>
            <a:off x="2130552" y="2523744"/>
            <a:ext cx="274320" cy="0"/>
          </a:xfrm>
          <a:prstGeom prst="line">
            <a:avLst/>
          </a:prstGeom>
          <a:noFill/>
          <a:ln w="22860">
            <a:solidFill>
              <a:srgbClr val="4B5563"/>
            </a:solidFill>
            <a:prstDash val="solid"/>
            <a:headEnd type="none"/>
            <a:tailEnd type="triangle"/>
          </a:ln>
        </p:spPr>
        <p:txBody>
          <a:bodyPr/>
          <a:lstStyle/>
          <a:p>
            <a:endParaRPr lang="en-US"/>
          </a:p>
        </p:txBody>
      </p:sp>
      <p:sp>
        <p:nvSpPr>
          <p:cNvPr id="8" name="Shape 6"/>
          <p:cNvSpPr/>
          <p:nvPr/>
        </p:nvSpPr>
        <p:spPr>
          <a:xfrm>
            <a:off x="2514600" y="2148840"/>
            <a:ext cx="1325880" cy="749808"/>
          </a:xfrm>
          <a:prstGeom prst="roundRect">
            <a:avLst>
              <a:gd name="adj" fmla="val 17073"/>
            </a:avLst>
          </a:prstGeom>
          <a:solidFill>
            <a:srgbClr val="0E7C7B"/>
          </a:solidFill>
          <a:ln w="12700">
            <a:solidFill>
              <a:srgbClr val="0E7C7B"/>
            </a:solidFill>
            <a:prstDash val="solid"/>
          </a:ln>
        </p:spPr>
        <p:txBody>
          <a:bodyPr/>
          <a:lstStyle/>
          <a:p>
            <a:endParaRPr lang="en-US"/>
          </a:p>
        </p:txBody>
      </p:sp>
      <p:sp>
        <p:nvSpPr>
          <p:cNvPr id="9" name="Text 7"/>
          <p:cNvSpPr/>
          <p:nvPr/>
        </p:nvSpPr>
        <p:spPr>
          <a:xfrm>
            <a:off x="2642616" y="2240280"/>
            <a:ext cx="106984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Clean + epoch</a:t>
            </a:r>
            <a:endParaRPr lang="en-US" sz="1300" dirty="0"/>
          </a:p>
        </p:txBody>
      </p:sp>
      <p:sp>
        <p:nvSpPr>
          <p:cNvPr id="10" name="Shape 8"/>
          <p:cNvSpPr/>
          <p:nvPr/>
        </p:nvSpPr>
        <p:spPr>
          <a:xfrm>
            <a:off x="3867912" y="2523744"/>
            <a:ext cx="457200" cy="0"/>
          </a:xfrm>
          <a:prstGeom prst="line">
            <a:avLst/>
          </a:prstGeom>
          <a:noFill/>
          <a:ln w="22860">
            <a:solidFill>
              <a:srgbClr val="4B5563"/>
            </a:solidFill>
            <a:prstDash val="solid"/>
            <a:headEnd type="none"/>
            <a:tailEnd type="triangle"/>
          </a:ln>
        </p:spPr>
        <p:txBody>
          <a:bodyPr/>
          <a:lstStyle/>
          <a:p>
            <a:endParaRPr lang="en-US"/>
          </a:p>
        </p:txBody>
      </p:sp>
      <p:sp>
        <p:nvSpPr>
          <p:cNvPr id="11" name="Shape 9"/>
          <p:cNvSpPr/>
          <p:nvPr/>
        </p:nvSpPr>
        <p:spPr>
          <a:xfrm>
            <a:off x="4434840" y="2148840"/>
            <a:ext cx="1325880" cy="749808"/>
          </a:xfrm>
          <a:prstGeom prst="roundRect">
            <a:avLst>
              <a:gd name="adj" fmla="val 17073"/>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4562856" y="2240280"/>
            <a:ext cx="106984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Features</a:t>
            </a:r>
            <a:endParaRPr lang="en-US" sz="1300" dirty="0"/>
          </a:p>
        </p:txBody>
      </p:sp>
      <p:sp>
        <p:nvSpPr>
          <p:cNvPr id="13" name="Shape 11"/>
          <p:cNvSpPr/>
          <p:nvPr/>
        </p:nvSpPr>
        <p:spPr>
          <a:xfrm>
            <a:off x="5788152" y="2523744"/>
            <a:ext cx="594360" cy="0"/>
          </a:xfrm>
          <a:prstGeom prst="line">
            <a:avLst/>
          </a:prstGeom>
          <a:noFill/>
          <a:ln w="22860">
            <a:solidFill>
              <a:srgbClr val="4B5563"/>
            </a:solidFill>
            <a:prstDash val="solid"/>
            <a:headEnd type="none"/>
            <a:tailEnd type="triangle"/>
          </a:ln>
        </p:spPr>
        <p:txBody>
          <a:bodyPr/>
          <a:lstStyle/>
          <a:p>
            <a:endParaRPr lang="en-US"/>
          </a:p>
        </p:txBody>
      </p:sp>
      <p:sp>
        <p:nvSpPr>
          <p:cNvPr id="14" name="Shape 12"/>
          <p:cNvSpPr/>
          <p:nvPr/>
        </p:nvSpPr>
        <p:spPr>
          <a:xfrm>
            <a:off x="6492240" y="2148840"/>
            <a:ext cx="1325880" cy="749808"/>
          </a:xfrm>
          <a:prstGeom prst="roundRect">
            <a:avLst>
              <a:gd name="adj" fmla="val 17073"/>
            </a:avLst>
          </a:prstGeom>
          <a:solidFill>
            <a:srgbClr val="7C3AED"/>
          </a:solidFill>
          <a:ln w="12700">
            <a:solidFill>
              <a:srgbClr val="7C3AED"/>
            </a:solidFill>
            <a:prstDash val="solid"/>
          </a:ln>
        </p:spPr>
        <p:txBody>
          <a:bodyPr/>
          <a:lstStyle/>
          <a:p>
            <a:endParaRPr lang="en-US"/>
          </a:p>
        </p:txBody>
      </p:sp>
      <p:sp>
        <p:nvSpPr>
          <p:cNvPr id="15" name="Text 13"/>
          <p:cNvSpPr/>
          <p:nvPr/>
        </p:nvSpPr>
        <p:spPr>
          <a:xfrm>
            <a:off x="6620256" y="2240280"/>
            <a:ext cx="106984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Classifier</a:t>
            </a:r>
            <a:endParaRPr lang="en-US" sz="1300" dirty="0"/>
          </a:p>
        </p:txBody>
      </p:sp>
      <p:sp>
        <p:nvSpPr>
          <p:cNvPr id="16" name="Shape 14"/>
          <p:cNvSpPr/>
          <p:nvPr/>
        </p:nvSpPr>
        <p:spPr>
          <a:xfrm>
            <a:off x="7845552" y="2523744"/>
            <a:ext cx="594360" cy="0"/>
          </a:xfrm>
          <a:prstGeom prst="line">
            <a:avLst/>
          </a:prstGeom>
          <a:noFill/>
          <a:ln w="22860">
            <a:solidFill>
              <a:srgbClr val="4B5563"/>
            </a:solidFill>
            <a:prstDash val="solid"/>
            <a:headEnd type="none"/>
            <a:tailEnd type="triangle"/>
          </a:ln>
        </p:spPr>
        <p:txBody>
          <a:bodyPr/>
          <a:lstStyle/>
          <a:p>
            <a:endParaRPr lang="en-US"/>
          </a:p>
        </p:txBody>
      </p:sp>
      <p:sp>
        <p:nvSpPr>
          <p:cNvPr id="17" name="Shape 15"/>
          <p:cNvSpPr/>
          <p:nvPr/>
        </p:nvSpPr>
        <p:spPr>
          <a:xfrm>
            <a:off x="8549640" y="2148840"/>
            <a:ext cx="1325880" cy="749808"/>
          </a:xfrm>
          <a:prstGeom prst="roundRect">
            <a:avLst>
              <a:gd name="adj" fmla="val 17073"/>
            </a:avLst>
          </a:prstGeom>
          <a:solidFill>
            <a:srgbClr val="FF6B5A"/>
          </a:solidFill>
          <a:ln w="12700">
            <a:solidFill>
              <a:srgbClr val="FF6B5A"/>
            </a:solidFill>
            <a:prstDash val="solid"/>
          </a:ln>
        </p:spPr>
        <p:txBody>
          <a:bodyPr/>
          <a:lstStyle/>
          <a:p>
            <a:endParaRPr lang="en-US"/>
          </a:p>
        </p:txBody>
      </p:sp>
      <p:sp>
        <p:nvSpPr>
          <p:cNvPr id="18" name="Text 16"/>
          <p:cNvSpPr/>
          <p:nvPr/>
        </p:nvSpPr>
        <p:spPr>
          <a:xfrm>
            <a:off x="8677656" y="2240280"/>
            <a:ext cx="106984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Test run</a:t>
            </a:r>
            <a:endParaRPr lang="en-US" sz="1300" dirty="0"/>
          </a:p>
        </p:txBody>
      </p:sp>
      <p:sp>
        <p:nvSpPr>
          <p:cNvPr id="19" name="Shape 17"/>
          <p:cNvSpPr/>
          <p:nvPr/>
        </p:nvSpPr>
        <p:spPr>
          <a:xfrm>
            <a:off x="9902952" y="2523744"/>
            <a:ext cx="228600" cy="0"/>
          </a:xfrm>
          <a:prstGeom prst="line">
            <a:avLst/>
          </a:prstGeom>
          <a:noFill/>
          <a:ln w="22860">
            <a:solidFill>
              <a:srgbClr val="4B5563"/>
            </a:solidFill>
            <a:prstDash val="solid"/>
            <a:headEnd type="none"/>
            <a:tailEnd type="triangle"/>
          </a:ln>
        </p:spPr>
        <p:txBody>
          <a:bodyPr/>
          <a:lstStyle/>
          <a:p>
            <a:endParaRPr lang="en-US"/>
          </a:p>
        </p:txBody>
      </p:sp>
      <p:sp>
        <p:nvSpPr>
          <p:cNvPr id="20" name="Shape 18"/>
          <p:cNvSpPr/>
          <p:nvPr/>
        </p:nvSpPr>
        <p:spPr>
          <a:xfrm>
            <a:off x="10241280" y="2148840"/>
            <a:ext cx="1325880" cy="749808"/>
          </a:xfrm>
          <a:prstGeom prst="roundRect">
            <a:avLst>
              <a:gd name="adj" fmla="val 17073"/>
            </a:avLst>
          </a:prstGeom>
          <a:solidFill>
            <a:srgbClr val="F4B942"/>
          </a:solidFill>
          <a:ln w="12700">
            <a:solidFill>
              <a:srgbClr val="F4B942"/>
            </a:solidFill>
            <a:prstDash val="solid"/>
          </a:ln>
        </p:spPr>
        <p:txBody>
          <a:bodyPr/>
          <a:lstStyle/>
          <a:p>
            <a:endParaRPr lang="en-US"/>
          </a:p>
        </p:txBody>
      </p:sp>
      <p:sp>
        <p:nvSpPr>
          <p:cNvPr id="21" name="Text 19"/>
          <p:cNvSpPr/>
          <p:nvPr/>
        </p:nvSpPr>
        <p:spPr>
          <a:xfrm>
            <a:off x="10369296" y="2240280"/>
            <a:ext cx="1069848" cy="566928"/>
          </a:xfrm>
          <a:prstGeom prst="rect">
            <a:avLst/>
          </a:prstGeom>
          <a:noFill/>
          <a:ln/>
        </p:spPr>
        <p:txBody>
          <a:bodyPr wrap="square" lIns="127" tIns="127" rIns="127" bIns="127"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Metrics</a:t>
            </a:r>
            <a:endParaRPr lang="en-US" sz="1300" dirty="0"/>
          </a:p>
        </p:txBody>
      </p:sp>
      <p:sp>
        <p:nvSpPr>
          <p:cNvPr id="22" name="Text 20"/>
          <p:cNvSpPr/>
          <p:nvPr/>
        </p:nvSpPr>
        <p:spPr>
          <a:xfrm>
            <a:off x="868680" y="1325880"/>
            <a:ext cx="5120640" cy="502920"/>
          </a:xfrm>
          <a:prstGeom prst="rect">
            <a:avLst/>
          </a:prstGeom>
          <a:noFill/>
          <a:ln/>
        </p:spPr>
        <p:txBody>
          <a:bodyPr wrap="square" lIns="381" tIns="381" rIns="381" bIns="381" rtlCol="0" anchor="ctr">
            <a:normAutofit/>
          </a:bodyPr>
          <a:lstStyle/>
          <a:p>
            <a:pPr marL="0" indent="0">
              <a:buNone/>
            </a:pPr>
            <a:r>
              <a:rPr lang="en-US" sz="1600" dirty="0">
                <a:solidFill>
                  <a:srgbClr val="4B5563"/>
                </a:solidFill>
                <a:latin typeface="Aptos" pitchFamily="34" charset="0"/>
                <a:ea typeface="Aptos" pitchFamily="34" charset="-122"/>
                <a:cs typeface="Aptos" pitchFamily="34" charset="-120"/>
              </a:rPr>
              <a:t>Explain your pipeline in one clean sequence. Put detailed parameters in backup slides or speaker notes.</a:t>
            </a:r>
            <a:endParaRPr lang="en-US" sz="1600" dirty="0"/>
          </a:p>
        </p:txBody>
      </p:sp>
      <p:sp>
        <p:nvSpPr>
          <p:cNvPr id="23" name="Text 21"/>
          <p:cNvSpPr/>
          <p:nvPr/>
        </p:nvSpPr>
        <p:spPr>
          <a:xfrm>
            <a:off x="822960" y="3794760"/>
            <a:ext cx="3108960" cy="228600"/>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COMPARE A BASELINE TO AN IMPROVED PIPELINE</a:t>
            </a:r>
            <a:endParaRPr lang="en-US" sz="800" dirty="0"/>
          </a:p>
        </p:txBody>
      </p:sp>
      <p:sp>
        <p:nvSpPr>
          <p:cNvPr id="24" name="Text 22"/>
          <p:cNvSpPr/>
          <p:nvPr/>
        </p:nvSpPr>
        <p:spPr>
          <a:xfrm>
            <a:off x="868680" y="4251960"/>
            <a:ext cx="1371600" cy="301752"/>
          </a:xfrm>
          <a:prstGeom prst="rect">
            <a:avLst/>
          </a:prstGeom>
          <a:noFill/>
          <a:ln/>
        </p:spPr>
        <p:txBody>
          <a:bodyPr wrap="square" lIns="0" tIns="0" rIns="0" bIns="0" rtlCol="0" anchor="ctr"/>
          <a:lstStyle/>
          <a:p>
            <a:pPr marL="0" indent="0">
              <a:buNone/>
            </a:pPr>
            <a:r>
              <a:rPr lang="en-US" sz="1600" b="1" dirty="0">
                <a:solidFill>
                  <a:srgbClr val="0B1F33"/>
                </a:solidFill>
              </a:rPr>
              <a:t>Baseline</a:t>
            </a:r>
            <a:endParaRPr lang="en-US" sz="1600" dirty="0"/>
          </a:p>
        </p:txBody>
      </p:sp>
      <p:sp>
        <p:nvSpPr>
          <p:cNvPr id="25" name="Text 23"/>
          <p:cNvSpPr/>
          <p:nvPr/>
        </p:nvSpPr>
        <p:spPr>
          <a:xfrm>
            <a:off x="2331720" y="4251960"/>
            <a:ext cx="3017520" cy="301752"/>
          </a:xfrm>
          <a:prstGeom prst="rect">
            <a:avLst/>
          </a:prstGeom>
          <a:noFill/>
          <a:ln/>
        </p:spPr>
        <p:txBody>
          <a:bodyPr wrap="square" lIns="0" tIns="0" rIns="0" bIns="0" rtlCol="0" anchor="ctr"/>
          <a:lstStyle/>
          <a:p>
            <a:pPr marL="0" indent="0">
              <a:buNone/>
            </a:pPr>
            <a:r>
              <a:rPr lang="en-US" sz="1600" dirty="0">
                <a:solidFill>
                  <a:srgbClr val="4B5563"/>
                </a:solidFill>
              </a:rPr>
              <a:t>Bandpass → CSP → LDA / SVM</a:t>
            </a:r>
            <a:endParaRPr lang="en-US" sz="1600" dirty="0"/>
          </a:p>
        </p:txBody>
      </p:sp>
      <p:sp>
        <p:nvSpPr>
          <p:cNvPr id="26" name="Text 24"/>
          <p:cNvSpPr/>
          <p:nvPr/>
        </p:nvSpPr>
        <p:spPr>
          <a:xfrm>
            <a:off x="868680" y="4800600"/>
            <a:ext cx="1371600" cy="301752"/>
          </a:xfrm>
          <a:prstGeom prst="rect">
            <a:avLst/>
          </a:prstGeom>
          <a:noFill/>
          <a:ln/>
        </p:spPr>
        <p:txBody>
          <a:bodyPr wrap="square" lIns="0" tIns="0" rIns="0" bIns="0" rtlCol="0" anchor="ctr"/>
          <a:lstStyle/>
          <a:p>
            <a:pPr marL="0" indent="0">
              <a:buNone/>
            </a:pPr>
            <a:r>
              <a:rPr lang="en-US" sz="1600" b="1" dirty="0">
                <a:solidFill>
                  <a:srgbClr val="0B1F33"/>
                </a:solidFill>
              </a:rPr>
              <a:t>Improved</a:t>
            </a:r>
            <a:endParaRPr lang="en-US" sz="1600" dirty="0"/>
          </a:p>
        </p:txBody>
      </p:sp>
      <p:sp>
        <p:nvSpPr>
          <p:cNvPr id="27" name="Text 25"/>
          <p:cNvSpPr/>
          <p:nvPr/>
        </p:nvSpPr>
        <p:spPr>
          <a:xfrm>
            <a:off x="2331720" y="4800600"/>
            <a:ext cx="4572000" cy="301752"/>
          </a:xfrm>
          <a:prstGeom prst="rect">
            <a:avLst/>
          </a:prstGeom>
          <a:noFill/>
          <a:ln/>
        </p:spPr>
        <p:txBody>
          <a:bodyPr wrap="square" lIns="0" tIns="0" rIns="0" bIns="0" rtlCol="0" anchor="ctr"/>
          <a:lstStyle/>
          <a:p>
            <a:pPr marL="0" indent="0">
              <a:buNone/>
            </a:pPr>
            <a:r>
              <a:rPr lang="en-US" sz="1600" dirty="0">
                <a:solidFill>
                  <a:srgbClr val="4B5563"/>
                </a:solidFill>
              </a:rPr>
              <a:t>Patient-specific tuning → time-window analysis → robust validation</a:t>
            </a:r>
            <a:endParaRPr lang="en-US" sz="1600" dirty="0"/>
          </a:p>
        </p:txBody>
      </p:sp>
      <p:sp>
        <p:nvSpPr>
          <p:cNvPr id="28" name="Shape 26"/>
          <p:cNvSpPr/>
          <p:nvPr/>
        </p:nvSpPr>
        <p:spPr>
          <a:xfrm>
            <a:off x="7040880" y="3886200"/>
            <a:ext cx="4023360" cy="1417320"/>
          </a:xfrm>
          <a:prstGeom prst="roundRect">
            <a:avLst>
              <a:gd name="adj" fmla="val 9032"/>
            </a:avLst>
          </a:prstGeom>
          <a:solidFill>
            <a:srgbClr val="E6F5F3"/>
          </a:solidFill>
          <a:ln w="12700">
            <a:solidFill>
              <a:srgbClr val="0E7C7B"/>
            </a:solidFill>
            <a:prstDash val="solid"/>
          </a:ln>
        </p:spPr>
        <p:txBody>
          <a:bodyPr/>
          <a:lstStyle/>
          <a:p>
            <a:endParaRPr lang="en-US"/>
          </a:p>
        </p:txBody>
      </p:sp>
      <p:sp>
        <p:nvSpPr>
          <p:cNvPr id="29" name="Text 27"/>
          <p:cNvSpPr/>
          <p:nvPr/>
        </p:nvSpPr>
        <p:spPr>
          <a:xfrm>
            <a:off x="7168896" y="3977640"/>
            <a:ext cx="3767328" cy="1234440"/>
          </a:xfrm>
          <a:prstGeom prst="rect">
            <a:avLst/>
          </a:prstGeom>
          <a:noFill/>
          <a:ln/>
        </p:spPr>
        <p:txBody>
          <a:bodyPr wrap="square" lIns="127" tIns="127" rIns="127" bIns="127" rtlCol="0" anchor="ctr">
            <a:normAutofit/>
          </a:bodyPr>
          <a:lstStyle/>
          <a:p>
            <a:pPr marL="0" indent="0">
              <a:buNone/>
            </a:pPr>
            <a:r>
              <a:rPr lang="en-US" sz="1600" b="1" dirty="0">
                <a:solidFill>
                  <a:srgbClr val="0B1F33"/>
                </a:solidFill>
                <a:latin typeface="Aptos" pitchFamily="34" charset="0"/>
                <a:ea typeface="Aptos" pitchFamily="34" charset="-122"/>
                <a:cs typeface="Aptos" pitchFamily="34" charset="-120"/>
              </a:rPr>
              <a:t>Design principle</a:t>
            </a:r>
            <a:endParaRPr lang="en-US" sz="1600" dirty="0"/>
          </a:p>
          <a:p>
            <a:pPr marL="0" indent="0">
              <a:buNone/>
            </a:pPr>
            <a:endParaRPr lang="en-US" sz="1600" dirty="0"/>
          </a:p>
          <a:p>
            <a:pPr marL="0" indent="0">
              <a:buNone/>
            </a:pPr>
            <a:r>
              <a:rPr lang="en-US" sz="1600" b="1" dirty="0">
                <a:solidFill>
                  <a:srgbClr val="0B1F33"/>
                </a:solidFill>
                <a:latin typeface="Aptos" pitchFamily="34" charset="0"/>
                <a:ea typeface="Aptos" pitchFamily="34" charset="-122"/>
                <a:cs typeface="Aptos" pitchFamily="34" charset="-120"/>
              </a:rPr>
              <a:t>Use the simplest model that is accurate, stable, and interpretable.</a:t>
            </a:r>
            <a:endParaRPr lang="en-US" sz="1600" dirty="0"/>
          </a:p>
        </p:txBody>
      </p:sp>
      <p:sp>
        <p:nvSpPr>
          <p:cNvPr id="30" name="Text 28"/>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Keep methods slide visual. Judges can ask for code later.</a:t>
            </a:r>
            <a:endParaRPr lang="en-US" sz="740" dirty="0"/>
          </a:p>
        </p:txBody>
      </p:sp>
      <p:sp>
        <p:nvSpPr>
          <p:cNvPr id="31"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5 — Results: show the evidence judges expect</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31520" y="1417320"/>
            <a:ext cx="3108960" cy="228600"/>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PLOT A — PRE VS POST ACCURACY</a:t>
            </a:r>
            <a:endParaRPr lang="en-US" sz="800" dirty="0"/>
          </a:p>
        </p:txBody>
      </p:sp>
      <p:sp>
        <p:nvSpPr>
          <p:cNvPr id="6" name="Shape 4"/>
          <p:cNvSpPr/>
          <p:nvPr/>
        </p:nvSpPr>
        <p:spPr>
          <a:xfrm>
            <a:off x="1097280" y="4892040"/>
            <a:ext cx="3383280" cy="0"/>
          </a:xfrm>
          <a:prstGeom prst="line">
            <a:avLst/>
          </a:prstGeom>
          <a:noFill/>
          <a:ln w="12700">
            <a:solidFill>
              <a:srgbClr val="4B5563"/>
            </a:solidFill>
            <a:prstDash val="solid"/>
          </a:ln>
        </p:spPr>
        <p:txBody>
          <a:bodyPr/>
          <a:lstStyle/>
          <a:p>
            <a:endParaRPr lang="en-US"/>
          </a:p>
        </p:txBody>
      </p:sp>
      <p:sp>
        <p:nvSpPr>
          <p:cNvPr id="7" name="Shape 5"/>
          <p:cNvSpPr/>
          <p:nvPr/>
        </p:nvSpPr>
        <p:spPr>
          <a:xfrm>
            <a:off x="1097280" y="1920240"/>
            <a:ext cx="0" cy="2971800"/>
          </a:xfrm>
          <a:prstGeom prst="line">
            <a:avLst/>
          </a:prstGeom>
          <a:noFill/>
          <a:ln w="12700">
            <a:solidFill>
              <a:srgbClr val="4B5563"/>
            </a:solidFill>
            <a:prstDash val="solid"/>
          </a:ln>
        </p:spPr>
        <p:txBody>
          <a:bodyPr/>
          <a:lstStyle/>
          <a:p>
            <a:endParaRPr lang="en-US"/>
          </a:p>
        </p:txBody>
      </p:sp>
      <p:sp>
        <p:nvSpPr>
          <p:cNvPr id="8" name="Shape 6"/>
          <p:cNvSpPr/>
          <p:nvPr/>
        </p:nvSpPr>
        <p:spPr>
          <a:xfrm>
            <a:off x="1691640" y="3246120"/>
            <a:ext cx="502920" cy="1645920"/>
          </a:xfrm>
          <a:prstGeom prst="rect">
            <a:avLst/>
          </a:prstGeom>
          <a:solidFill>
            <a:srgbClr val="0E7C7B"/>
          </a:solidFill>
          <a:ln w="12700">
            <a:solidFill>
              <a:srgbClr val="0E7C7B"/>
            </a:solidFill>
            <a:prstDash val="solid"/>
          </a:ln>
        </p:spPr>
        <p:txBody>
          <a:bodyPr/>
          <a:lstStyle/>
          <a:p>
            <a:endParaRPr lang="en-US"/>
          </a:p>
        </p:txBody>
      </p:sp>
      <p:sp>
        <p:nvSpPr>
          <p:cNvPr id="9" name="Shape 7"/>
          <p:cNvSpPr/>
          <p:nvPr/>
        </p:nvSpPr>
        <p:spPr>
          <a:xfrm>
            <a:off x="2880360" y="2606040"/>
            <a:ext cx="502920" cy="2286000"/>
          </a:xfrm>
          <a:prstGeom prst="rect">
            <a:avLst/>
          </a:prstGeom>
          <a:solidFill>
            <a:srgbClr val="FF6B5A"/>
          </a:solidFill>
          <a:ln w="12700">
            <a:solidFill>
              <a:srgbClr val="FF6B5A"/>
            </a:solidFill>
            <a:prstDash val="solid"/>
          </a:ln>
        </p:spPr>
        <p:txBody>
          <a:bodyPr/>
          <a:lstStyle/>
          <a:p>
            <a:endParaRPr lang="en-US"/>
          </a:p>
        </p:txBody>
      </p:sp>
      <p:sp>
        <p:nvSpPr>
          <p:cNvPr id="10" name="Text 8"/>
          <p:cNvSpPr/>
          <p:nvPr/>
        </p:nvSpPr>
        <p:spPr>
          <a:xfrm>
            <a:off x="1545336" y="5010912"/>
            <a:ext cx="822960" cy="228600"/>
          </a:xfrm>
          <a:prstGeom prst="rect">
            <a:avLst/>
          </a:prstGeom>
          <a:noFill/>
          <a:ln/>
        </p:spPr>
        <p:txBody>
          <a:bodyPr wrap="square" lIns="0" tIns="0" rIns="0" bIns="0" rtlCol="0" anchor="ctr"/>
          <a:lstStyle/>
          <a:p>
            <a:pPr marL="0" indent="0" algn="ctr">
              <a:buNone/>
            </a:pPr>
            <a:r>
              <a:rPr lang="en-US" sz="1000" dirty="0">
                <a:solidFill>
                  <a:srgbClr val="4B5563"/>
                </a:solidFill>
              </a:rPr>
              <a:t>PRE</a:t>
            </a:r>
            <a:endParaRPr lang="en-US" sz="1000" dirty="0"/>
          </a:p>
        </p:txBody>
      </p:sp>
      <p:sp>
        <p:nvSpPr>
          <p:cNvPr id="11" name="Text 9"/>
          <p:cNvSpPr/>
          <p:nvPr/>
        </p:nvSpPr>
        <p:spPr>
          <a:xfrm>
            <a:off x="2697480" y="5010912"/>
            <a:ext cx="914400" cy="228600"/>
          </a:xfrm>
          <a:prstGeom prst="rect">
            <a:avLst/>
          </a:prstGeom>
          <a:noFill/>
          <a:ln/>
        </p:spPr>
        <p:txBody>
          <a:bodyPr wrap="square" lIns="0" tIns="0" rIns="0" bIns="0" rtlCol="0" anchor="ctr"/>
          <a:lstStyle/>
          <a:p>
            <a:pPr marL="0" indent="0" algn="ctr">
              <a:buNone/>
            </a:pPr>
            <a:r>
              <a:rPr lang="en-US" sz="1000" dirty="0">
                <a:solidFill>
                  <a:srgbClr val="4B5563"/>
                </a:solidFill>
              </a:rPr>
              <a:t>POST</a:t>
            </a:r>
            <a:endParaRPr lang="en-US" sz="1000" dirty="0"/>
          </a:p>
        </p:txBody>
      </p:sp>
      <p:sp>
        <p:nvSpPr>
          <p:cNvPr id="12" name="Text 10"/>
          <p:cNvSpPr/>
          <p:nvPr/>
        </p:nvSpPr>
        <p:spPr>
          <a:xfrm>
            <a:off x="3611880" y="3621024"/>
            <a:ext cx="1097280" cy="228600"/>
          </a:xfrm>
          <a:prstGeom prst="rect">
            <a:avLst/>
          </a:prstGeom>
          <a:noFill/>
          <a:ln/>
        </p:spPr>
        <p:txBody>
          <a:bodyPr wrap="square" lIns="0" tIns="0" rIns="0" bIns="0" rtlCol="0" anchor="ctr"/>
          <a:lstStyle/>
          <a:p>
            <a:pPr marL="0" indent="0">
              <a:buNone/>
            </a:pPr>
            <a:r>
              <a:rPr lang="en-US" sz="900" dirty="0">
                <a:solidFill>
                  <a:srgbClr val="4B5563"/>
                </a:solidFill>
              </a:rPr>
              <a:t>50% chance</a:t>
            </a:r>
            <a:endParaRPr lang="en-US" sz="900" dirty="0"/>
          </a:p>
        </p:txBody>
      </p:sp>
      <p:sp>
        <p:nvSpPr>
          <p:cNvPr id="13" name="Shape 11"/>
          <p:cNvSpPr/>
          <p:nvPr/>
        </p:nvSpPr>
        <p:spPr>
          <a:xfrm>
            <a:off x="1097280" y="3822192"/>
            <a:ext cx="3383280" cy="0"/>
          </a:xfrm>
          <a:prstGeom prst="line">
            <a:avLst/>
          </a:prstGeom>
          <a:noFill/>
          <a:ln w="12700">
            <a:solidFill>
              <a:srgbClr val="4B5563"/>
            </a:solidFill>
            <a:prstDash val="solid"/>
          </a:ln>
        </p:spPr>
        <p:txBody>
          <a:bodyPr/>
          <a:lstStyle/>
          <a:p>
            <a:endParaRPr lang="en-US"/>
          </a:p>
        </p:txBody>
      </p:sp>
      <p:sp>
        <p:nvSpPr>
          <p:cNvPr id="14" name="Text 12"/>
          <p:cNvSpPr/>
          <p:nvPr/>
        </p:nvSpPr>
        <p:spPr>
          <a:xfrm>
            <a:off x="1234440" y="1874520"/>
            <a:ext cx="3108960" cy="256032"/>
          </a:xfrm>
          <a:prstGeom prst="rect">
            <a:avLst/>
          </a:prstGeom>
          <a:noFill/>
          <a:ln/>
        </p:spPr>
        <p:txBody>
          <a:bodyPr wrap="square" lIns="0" tIns="0" rIns="0" bIns="0" rtlCol="0" anchor="ctr"/>
          <a:lstStyle/>
          <a:p>
            <a:pPr marL="0" indent="0" algn="ctr">
              <a:buNone/>
            </a:pPr>
            <a:r>
              <a:rPr lang="en-US" sz="1000" b="1" dirty="0">
                <a:solidFill>
                  <a:srgbClr val="FF6B5A"/>
                </a:solidFill>
              </a:rPr>
              <a:t>replace with your values</a:t>
            </a:r>
            <a:endParaRPr lang="en-US" sz="1000" dirty="0"/>
          </a:p>
        </p:txBody>
      </p:sp>
      <p:sp>
        <p:nvSpPr>
          <p:cNvPr id="15" name="Text 13"/>
          <p:cNvSpPr/>
          <p:nvPr/>
        </p:nvSpPr>
        <p:spPr>
          <a:xfrm>
            <a:off x="5852160" y="1417320"/>
            <a:ext cx="3108960" cy="228600"/>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ADD THREE RESULT LAYERS</a:t>
            </a:r>
            <a:endParaRPr lang="en-US" sz="800" dirty="0"/>
          </a:p>
        </p:txBody>
      </p:sp>
      <p:sp>
        <p:nvSpPr>
          <p:cNvPr id="16" name="Shape 14"/>
          <p:cNvSpPr/>
          <p:nvPr/>
        </p:nvSpPr>
        <p:spPr>
          <a:xfrm>
            <a:off x="5943600" y="1920240"/>
            <a:ext cx="438912" cy="438912"/>
          </a:xfrm>
          <a:prstGeom prst="ellipse">
            <a:avLst/>
          </a:prstGeom>
          <a:solidFill>
            <a:srgbClr val="0E7C7B"/>
          </a:solidFill>
          <a:ln w="12700">
            <a:solidFill>
              <a:srgbClr val="0E7C7B"/>
            </a:solidFill>
            <a:prstDash val="solid"/>
          </a:ln>
        </p:spPr>
        <p:txBody>
          <a:bodyPr/>
          <a:lstStyle/>
          <a:p>
            <a:endParaRPr lang="en-US"/>
          </a:p>
        </p:txBody>
      </p:sp>
      <p:sp>
        <p:nvSpPr>
          <p:cNvPr id="17" name="Text 15"/>
          <p:cNvSpPr/>
          <p:nvPr/>
        </p:nvSpPr>
        <p:spPr>
          <a:xfrm>
            <a:off x="6016752" y="2002536"/>
            <a:ext cx="292608"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1</a:t>
            </a:r>
            <a:endParaRPr lang="en-US" sz="1300" dirty="0"/>
          </a:p>
        </p:txBody>
      </p:sp>
      <p:sp>
        <p:nvSpPr>
          <p:cNvPr id="18" name="Text 16"/>
          <p:cNvSpPr/>
          <p:nvPr/>
        </p:nvSpPr>
        <p:spPr>
          <a:xfrm>
            <a:off x="6537960" y="1911096"/>
            <a:ext cx="1828800" cy="256032"/>
          </a:xfrm>
          <a:prstGeom prst="rect">
            <a:avLst/>
          </a:prstGeom>
          <a:noFill/>
          <a:ln/>
        </p:spPr>
        <p:txBody>
          <a:bodyPr wrap="square" lIns="0" tIns="0" rIns="0" bIns="0" rtlCol="0" anchor="ctr"/>
          <a:lstStyle/>
          <a:p>
            <a:pPr marL="0" indent="0">
              <a:buNone/>
            </a:pPr>
            <a:r>
              <a:rPr lang="en-US" sz="1800" b="1" dirty="0">
                <a:solidFill>
                  <a:srgbClr val="0B1F33"/>
                </a:solidFill>
              </a:rPr>
              <a:t>Accuracy</a:t>
            </a:r>
            <a:endParaRPr lang="en-US" sz="1800" dirty="0"/>
          </a:p>
        </p:txBody>
      </p:sp>
      <p:sp>
        <p:nvSpPr>
          <p:cNvPr id="19" name="Text 17"/>
          <p:cNvSpPr/>
          <p:nvPr/>
        </p:nvSpPr>
        <p:spPr>
          <a:xfrm>
            <a:off x="6537960" y="2267712"/>
            <a:ext cx="3474720" cy="256032"/>
          </a:xfrm>
          <a:prstGeom prst="rect">
            <a:avLst/>
          </a:prstGeom>
          <a:noFill/>
          <a:ln/>
        </p:spPr>
        <p:txBody>
          <a:bodyPr wrap="square" lIns="0" tIns="0" rIns="0" bIns="0" rtlCol="0" anchor="ctr"/>
          <a:lstStyle/>
          <a:p>
            <a:pPr marL="0" indent="0">
              <a:buNone/>
            </a:pPr>
            <a:r>
              <a:rPr lang="en-US" sz="1400" dirty="0">
                <a:solidFill>
                  <a:srgbClr val="4B5563"/>
                </a:solidFill>
              </a:rPr>
              <a:t>overall PRE vs POST</a:t>
            </a:r>
            <a:endParaRPr lang="en-US" sz="1400" dirty="0"/>
          </a:p>
        </p:txBody>
      </p:sp>
      <p:sp>
        <p:nvSpPr>
          <p:cNvPr id="20" name="Shape 18"/>
          <p:cNvSpPr/>
          <p:nvPr/>
        </p:nvSpPr>
        <p:spPr>
          <a:xfrm>
            <a:off x="5943600" y="3017520"/>
            <a:ext cx="438912" cy="438912"/>
          </a:xfrm>
          <a:prstGeom prst="ellipse">
            <a:avLst/>
          </a:prstGeom>
          <a:solidFill>
            <a:srgbClr val="3B82F6"/>
          </a:solidFill>
          <a:ln w="12700">
            <a:solidFill>
              <a:srgbClr val="3B82F6"/>
            </a:solidFill>
            <a:prstDash val="solid"/>
          </a:ln>
        </p:spPr>
        <p:txBody>
          <a:bodyPr/>
          <a:lstStyle/>
          <a:p>
            <a:endParaRPr lang="en-US"/>
          </a:p>
        </p:txBody>
      </p:sp>
      <p:sp>
        <p:nvSpPr>
          <p:cNvPr id="21" name="Text 19"/>
          <p:cNvSpPr/>
          <p:nvPr/>
        </p:nvSpPr>
        <p:spPr>
          <a:xfrm>
            <a:off x="6016752" y="3099816"/>
            <a:ext cx="292608"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2</a:t>
            </a:r>
            <a:endParaRPr lang="en-US" sz="1300" dirty="0"/>
          </a:p>
        </p:txBody>
      </p:sp>
      <p:sp>
        <p:nvSpPr>
          <p:cNvPr id="22" name="Text 20"/>
          <p:cNvSpPr/>
          <p:nvPr/>
        </p:nvSpPr>
        <p:spPr>
          <a:xfrm>
            <a:off x="6537960" y="3008376"/>
            <a:ext cx="1828800" cy="256032"/>
          </a:xfrm>
          <a:prstGeom prst="rect">
            <a:avLst/>
          </a:prstGeom>
          <a:noFill/>
          <a:ln/>
        </p:spPr>
        <p:txBody>
          <a:bodyPr wrap="square" lIns="0" tIns="0" rIns="0" bIns="0" rtlCol="0" anchor="ctr"/>
          <a:lstStyle/>
          <a:p>
            <a:pPr marL="0" indent="0">
              <a:buNone/>
            </a:pPr>
            <a:r>
              <a:rPr lang="en-US" sz="1800" b="1" dirty="0">
                <a:solidFill>
                  <a:srgbClr val="0B1F33"/>
                </a:solidFill>
              </a:rPr>
              <a:t>Significance</a:t>
            </a:r>
            <a:endParaRPr lang="en-US" sz="1800" dirty="0"/>
          </a:p>
        </p:txBody>
      </p:sp>
      <p:sp>
        <p:nvSpPr>
          <p:cNvPr id="23" name="Text 21"/>
          <p:cNvSpPr/>
          <p:nvPr/>
        </p:nvSpPr>
        <p:spPr>
          <a:xfrm>
            <a:off x="6537960" y="3364992"/>
            <a:ext cx="3474720" cy="256032"/>
          </a:xfrm>
          <a:prstGeom prst="rect">
            <a:avLst/>
          </a:prstGeom>
          <a:noFill/>
          <a:ln/>
        </p:spPr>
        <p:txBody>
          <a:bodyPr wrap="square" lIns="0" tIns="0" rIns="0" bIns="0" rtlCol="0" anchor="ctr"/>
          <a:lstStyle/>
          <a:p>
            <a:pPr marL="0" indent="0">
              <a:buNone/>
            </a:pPr>
            <a:r>
              <a:rPr lang="en-US" sz="1400" dirty="0">
                <a:solidFill>
                  <a:srgbClr val="4B5563"/>
                </a:solidFill>
              </a:rPr>
              <a:t>binomial test vs chance</a:t>
            </a:r>
            <a:endParaRPr lang="en-US" sz="1400" dirty="0"/>
          </a:p>
        </p:txBody>
      </p:sp>
      <p:sp>
        <p:nvSpPr>
          <p:cNvPr id="24" name="Shape 22"/>
          <p:cNvSpPr/>
          <p:nvPr/>
        </p:nvSpPr>
        <p:spPr>
          <a:xfrm>
            <a:off x="5943600" y="4114800"/>
            <a:ext cx="438912" cy="438912"/>
          </a:xfrm>
          <a:prstGeom prst="ellipse">
            <a:avLst/>
          </a:prstGeom>
          <a:solidFill>
            <a:srgbClr val="FF6B5A"/>
          </a:solidFill>
          <a:ln w="12700">
            <a:solidFill>
              <a:srgbClr val="FF6B5A"/>
            </a:solidFill>
            <a:prstDash val="solid"/>
          </a:ln>
        </p:spPr>
        <p:txBody>
          <a:bodyPr/>
          <a:lstStyle/>
          <a:p>
            <a:endParaRPr lang="en-US"/>
          </a:p>
        </p:txBody>
      </p:sp>
      <p:sp>
        <p:nvSpPr>
          <p:cNvPr id="25" name="Text 23"/>
          <p:cNvSpPr/>
          <p:nvPr/>
        </p:nvSpPr>
        <p:spPr>
          <a:xfrm>
            <a:off x="6016752" y="4197096"/>
            <a:ext cx="292608" cy="27432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Display" pitchFamily="34" charset="0"/>
                <a:ea typeface="Aptos Display" pitchFamily="34" charset="-122"/>
                <a:cs typeface="Aptos Display" pitchFamily="34" charset="-120"/>
              </a:rPr>
              <a:t>3</a:t>
            </a:r>
            <a:endParaRPr lang="en-US" sz="1300" dirty="0"/>
          </a:p>
        </p:txBody>
      </p:sp>
      <p:sp>
        <p:nvSpPr>
          <p:cNvPr id="26" name="Text 24"/>
          <p:cNvSpPr/>
          <p:nvPr/>
        </p:nvSpPr>
        <p:spPr>
          <a:xfrm>
            <a:off x="6537960" y="4105656"/>
            <a:ext cx="1828800" cy="256032"/>
          </a:xfrm>
          <a:prstGeom prst="rect">
            <a:avLst/>
          </a:prstGeom>
          <a:noFill/>
          <a:ln/>
        </p:spPr>
        <p:txBody>
          <a:bodyPr wrap="square" lIns="0" tIns="0" rIns="0" bIns="0" rtlCol="0" anchor="ctr"/>
          <a:lstStyle/>
          <a:p>
            <a:pPr marL="0" indent="0">
              <a:buNone/>
            </a:pPr>
            <a:r>
              <a:rPr lang="en-US" sz="1800" b="1" dirty="0">
                <a:solidFill>
                  <a:srgbClr val="0B1F33"/>
                </a:solidFill>
              </a:rPr>
              <a:t>Errors</a:t>
            </a:r>
            <a:endParaRPr lang="en-US" sz="1800" dirty="0"/>
          </a:p>
        </p:txBody>
      </p:sp>
      <p:sp>
        <p:nvSpPr>
          <p:cNvPr id="27" name="Text 25"/>
          <p:cNvSpPr/>
          <p:nvPr/>
        </p:nvSpPr>
        <p:spPr>
          <a:xfrm>
            <a:off x="6537960" y="4462272"/>
            <a:ext cx="3474720" cy="256032"/>
          </a:xfrm>
          <a:prstGeom prst="rect">
            <a:avLst/>
          </a:prstGeom>
          <a:noFill/>
          <a:ln/>
        </p:spPr>
        <p:txBody>
          <a:bodyPr wrap="square" lIns="0" tIns="0" rIns="0" bIns="0" rtlCol="0" anchor="ctr"/>
          <a:lstStyle/>
          <a:p>
            <a:pPr marL="0" indent="0">
              <a:buNone/>
            </a:pPr>
            <a:r>
              <a:rPr lang="en-US" sz="1400" dirty="0">
                <a:solidFill>
                  <a:srgbClr val="4B5563"/>
                </a:solidFill>
              </a:rPr>
              <a:t>confusion matrix + class recall</a:t>
            </a:r>
            <a:endParaRPr lang="en-US" sz="1400" dirty="0"/>
          </a:p>
        </p:txBody>
      </p:sp>
      <p:sp>
        <p:nvSpPr>
          <p:cNvPr id="28" name="Shape 26"/>
          <p:cNvSpPr/>
          <p:nvPr/>
        </p:nvSpPr>
        <p:spPr>
          <a:xfrm>
            <a:off x="5897880" y="5257800"/>
            <a:ext cx="4709160" cy="493776"/>
          </a:xfrm>
          <a:prstGeom prst="roundRect">
            <a:avLst>
              <a:gd name="adj" fmla="val 25926"/>
            </a:avLst>
          </a:prstGeom>
          <a:solidFill>
            <a:srgbClr val="FFF0EE"/>
          </a:solidFill>
          <a:ln w="12700">
            <a:solidFill>
              <a:srgbClr val="FF6B5A"/>
            </a:solidFill>
            <a:prstDash val="solid"/>
          </a:ln>
        </p:spPr>
        <p:txBody>
          <a:bodyPr/>
          <a:lstStyle/>
          <a:p>
            <a:endParaRPr lang="en-US"/>
          </a:p>
        </p:txBody>
      </p:sp>
      <p:sp>
        <p:nvSpPr>
          <p:cNvPr id="29" name="Text 27"/>
          <p:cNvSpPr/>
          <p:nvPr/>
        </p:nvSpPr>
        <p:spPr>
          <a:xfrm>
            <a:off x="6025896" y="5349240"/>
            <a:ext cx="4453128" cy="310896"/>
          </a:xfrm>
          <a:prstGeom prst="rect">
            <a:avLst/>
          </a:prstGeom>
          <a:noFill/>
          <a:ln/>
        </p:spPr>
        <p:txBody>
          <a:bodyPr wrap="square" lIns="127" tIns="127" rIns="127" bIns="127" rtlCol="0" anchor="ctr">
            <a:normAutofit fontScale="85000" lnSpcReduction="20000"/>
          </a:bodyPr>
          <a:lstStyle/>
          <a:p>
            <a:pPr marL="0" indent="0">
              <a:buNone/>
            </a:pPr>
            <a:r>
              <a:rPr lang="en-US" sz="1400" b="1" dirty="0">
                <a:solidFill>
                  <a:srgbClr val="0B1F33"/>
                </a:solidFill>
                <a:latin typeface="Aptos" pitchFamily="34" charset="0"/>
                <a:ea typeface="Aptos" pitchFamily="34" charset="-122"/>
                <a:cs typeface="Aptos" pitchFamily="34" charset="-120"/>
              </a:rPr>
              <a:t>Best sentence: “POST is not only higher — it is statistically reliable and more balanced.”</a:t>
            </a:r>
            <a:endParaRPr lang="en-US" sz="1400" dirty="0"/>
          </a:p>
        </p:txBody>
      </p:sp>
      <p:sp>
        <p:nvSpPr>
          <p:cNvPr id="30" name="Text 28"/>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Do not show only one accuracy number. Show reliability, errors, and PRE→POST change.</a:t>
            </a:r>
            <a:endParaRPr lang="en-US" sz="740" dirty="0"/>
          </a:p>
        </p:txBody>
      </p:sp>
      <p:sp>
        <p:nvSpPr>
          <p:cNvPr id="31"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6 — Interpretability: prove it is not a black box</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77240" y="1325880"/>
            <a:ext cx="5303520" cy="640080"/>
          </a:xfrm>
          <a:prstGeom prst="rect">
            <a:avLst/>
          </a:prstGeom>
          <a:noFill/>
          <a:ln/>
        </p:spPr>
        <p:txBody>
          <a:bodyPr wrap="square" lIns="381" tIns="381" rIns="381" bIns="381" rtlCol="0" anchor="ctr">
            <a:normAutofit fontScale="92500"/>
          </a:bodyPr>
          <a:lstStyle/>
          <a:p>
            <a:pPr marL="0" indent="0">
              <a:buNone/>
            </a:pPr>
            <a:r>
              <a:rPr lang="en-US" sz="1600" dirty="0">
                <a:solidFill>
                  <a:srgbClr val="4B5563"/>
                </a:solidFill>
                <a:latin typeface="Aptos" pitchFamily="34" charset="0"/>
                <a:ea typeface="Aptos" pitchFamily="34" charset="-122"/>
                <a:cs typeface="Aptos" pitchFamily="34" charset="-120"/>
              </a:rPr>
              <a:t>Use interpretable plots to show what the model learned, when the signal is informative, and whether one class is harder.</a:t>
            </a:r>
            <a:endParaRPr lang="en-US" sz="1600" dirty="0"/>
          </a:p>
        </p:txBody>
      </p:sp>
      <p:sp>
        <p:nvSpPr>
          <p:cNvPr id="6" name="Text 4"/>
          <p:cNvSpPr/>
          <p:nvPr/>
        </p:nvSpPr>
        <p:spPr>
          <a:xfrm>
            <a:off x="868680" y="2331720"/>
            <a:ext cx="3108960" cy="228600"/>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CONFUSION MATRIX</a:t>
            </a:r>
            <a:endParaRPr lang="en-US" sz="800" dirty="0"/>
          </a:p>
        </p:txBody>
      </p:sp>
      <p:sp>
        <p:nvSpPr>
          <p:cNvPr id="7" name="Shape 5"/>
          <p:cNvSpPr/>
          <p:nvPr/>
        </p:nvSpPr>
        <p:spPr>
          <a:xfrm>
            <a:off x="914400" y="2743200"/>
            <a:ext cx="566928" cy="566928"/>
          </a:xfrm>
          <a:prstGeom prst="rect">
            <a:avLst/>
          </a:prstGeom>
          <a:solidFill>
            <a:srgbClr val="E6F5F3"/>
          </a:solidFill>
          <a:ln w="25400">
            <a:solidFill>
              <a:srgbClr val="FFFFFF"/>
            </a:solidFill>
            <a:prstDash val="solid"/>
          </a:ln>
        </p:spPr>
        <p:txBody>
          <a:bodyPr/>
          <a:lstStyle/>
          <a:p>
            <a:endParaRPr lang="en-US"/>
          </a:p>
        </p:txBody>
      </p:sp>
      <p:sp>
        <p:nvSpPr>
          <p:cNvPr id="8" name="Text 6"/>
          <p:cNvSpPr/>
          <p:nvPr/>
        </p:nvSpPr>
        <p:spPr>
          <a:xfrm>
            <a:off x="914400" y="2834640"/>
            <a:ext cx="566928" cy="292608"/>
          </a:xfrm>
          <a:prstGeom prst="rect">
            <a:avLst/>
          </a:prstGeom>
          <a:noFill/>
          <a:ln/>
        </p:spPr>
        <p:txBody>
          <a:bodyPr wrap="square" lIns="0" tIns="0" rIns="0" bIns="0" rtlCol="0" anchor="ctr"/>
          <a:lstStyle/>
          <a:p>
            <a:pPr marL="0" indent="0" algn="ctr">
              <a:buNone/>
            </a:pPr>
            <a:r>
              <a:rPr lang="en-US" sz="1800" b="1" dirty="0">
                <a:solidFill>
                  <a:srgbClr val="0E7C7B"/>
                </a:solidFill>
              </a:rPr>
              <a:t>✓</a:t>
            </a:r>
            <a:endParaRPr lang="en-US" sz="1800" dirty="0"/>
          </a:p>
        </p:txBody>
      </p:sp>
      <p:sp>
        <p:nvSpPr>
          <p:cNvPr id="9" name="Shape 7"/>
          <p:cNvSpPr/>
          <p:nvPr/>
        </p:nvSpPr>
        <p:spPr>
          <a:xfrm>
            <a:off x="1481328" y="2743200"/>
            <a:ext cx="566928" cy="566928"/>
          </a:xfrm>
          <a:prstGeom prst="rect">
            <a:avLst/>
          </a:prstGeom>
          <a:solidFill>
            <a:srgbClr val="FFF0EE"/>
          </a:solidFill>
          <a:ln w="25400">
            <a:solidFill>
              <a:srgbClr val="FFFFFF"/>
            </a:solidFill>
            <a:prstDash val="solid"/>
          </a:ln>
        </p:spPr>
        <p:txBody>
          <a:bodyPr/>
          <a:lstStyle/>
          <a:p>
            <a:endParaRPr lang="en-US"/>
          </a:p>
        </p:txBody>
      </p:sp>
      <p:sp>
        <p:nvSpPr>
          <p:cNvPr id="10" name="Text 8"/>
          <p:cNvSpPr/>
          <p:nvPr/>
        </p:nvSpPr>
        <p:spPr>
          <a:xfrm>
            <a:off x="1481328" y="2834640"/>
            <a:ext cx="566928" cy="292608"/>
          </a:xfrm>
          <a:prstGeom prst="rect">
            <a:avLst/>
          </a:prstGeom>
          <a:noFill/>
          <a:ln/>
        </p:spPr>
        <p:txBody>
          <a:bodyPr wrap="square" lIns="0" tIns="0" rIns="0" bIns="0" rtlCol="0" anchor="ctr"/>
          <a:lstStyle/>
          <a:p>
            <a:pPr marL="0" indent="0" algn="ctr">
              <a:buNone/>
            </a:pPr>
            <a:r>
              <a:rPr lang="en-US" sz="1800" b="1" dirty="0">
                <a:solidFill>
                  <a:srgbClr val="FF6B5A"/>
                </a:solidFill>
              </a:rPr>
              <a:t>×</a:t>
            </a:r>
            <a:endParaRPr lang="en-US" sz="1800" dirty="0"/>
          </a:p>
        </p:txBody>
      </p:sp>
      <p:sp>
        <p:nvSpPr>
          <p:cNvPr id="11" name="Shape 9"/>
          <p:cNvSpPr/>
          <p:nvPr/>
        </p:nvSpPr>
        <p:spPr>
          <a:xfrm>
            <a:off x="914400" y="3310128"/>
            <a:ext cx="566928" cy="566928"/>
          </a:xfrm>
          <a:prstGeom prst="rect">
            <a:avLst/>
          </a:prstGeom>
          <a:solidFill>
            <a:srgbClr val="FFF0EE"/>
          </a:solidFill>
          <a:ln w="25400">
            <a:solidFill>
              <a:srgbClr val="FFFFFF"/>
            </a:solidFill>
            <a:prstDash val="solid"/>
          </a:ln>
        </p:spPr>
        <p:txBody>
          <a:bodyPr/>
          <a:lstStyle/>
          <a:p>
            <a:endParaRPr lang="en-US"/>
          </a:p>
        </p:txBody>
      </p:sp>
      <p:sp>
        <p:nvSpPr>
          <p:cNvPr id="12" name="Text 10"/>
          <p:cNvSpPr/>
          <p:nvPr/>
        </p:nvSpPr>
        <p:spPr>
          <a:xfrm>
            <a:off x="914400" y="3401568"/>
            <a:ext cx="566928" cy="292608"/>
          </a:xfrm>
          <a:prstGeom prst="rect">
            <a:avLst/>
          </a:prstGeom>
          <a:noFill/>
          <a:ln/>
        </p:spPr>
        <p:txBody>
          <a:bodyPr wrap="square" lIns="0" tIns="0" rIns="0" bIns="0" rtlCol="0" anchor="ctr"/>
          <a:lstStyle/>
          <a:p>
            <a:pPr marL="0" indent="0" algn="ctr">
              <a:buNone/>
            </a:pPr>
            <a:r>
              <a:rPr lang="en-US" sz="1800" b="1" dirty="0">
                <a:solidFill>
                  <a:srgbClr val="FF6B5A"/>
                </a:solidFill>
              </a:rPr>
              <a:t>×</a:t>
            </a:r>
            <a:endParaRPr lang="en-US" sz="1800" dirty="0"/>
          </a:p>
        </p:txBody>
      </p:sp>
      <p:sp>
        <p:nvSpPr>
          <p:cNvPr id="13" name="Shape 11"/>
          <p:cNvSpPr/>
          <p:nvPr/>
        </p:nvSpPr>
        <p:spPr>
          <a:xfrm>
            <a:off x="1481328" y="3310128"/>
            <a:ext cx="566928" cy="566928"/>
          </a:xfrm>
          <a:prstGeom prst="rect">
            <a:avLst/>
          </a:prstGeom>
          <a:solidFill>
            <a:srgbClr val="E6F5F3"/>
          </a:solidFill>
          <a:ln w="25400">
            <a:solidFill>
              <a:srgbClr val="FFFFFF"/>
            </a:solidFill>
            <a:prstDash val="solid"/>
          </a:ln>
        </p:spPr>
        <p:txBody>
          <a:bodyPr/>
          <a:lstStyle/>
          <a:p>
            <a:endParaRPr lang="en-US"/>
          </a:p>
        </p:txBody>
      </p:sp>
      <p:sp>
        <p:nvSpPr>
          <p:cNvPr id="14" name="Text 12"/>
          <p:cNvSpPr/>
          <p:nvPr/>
        </p:nvSpPr>
        <p:spPr>
          <a:xfrm>
            <a:off x="1481328" y="3401568"/>
            <a:ext cx="566928" cy="292608"/>
          </a:xfrm>
          <a:prstGeom prst="rect">
            <a:avLst/>
          </a:prstGeom>
          <a:noFill/>
          <a:ln/>
        </p:spPr>
        <p:txBody>
          <a:bodyPr wrap="square" lIns="0" tIns="0" rIns="0" bIns="0" rtlCol="0" anchor="ctr"/>
          <a:lstStyle/>
          <a:p>
            <a:pPr marL="0" indent="0" algn="ctr">
              <a:buNone/>
            </a:pPr>
            <a:r>
              <a:rPr lang="en-US" sz="1800" b="1" dirty="0">
                <a:solidFill>
                  <a:srgbClr val="0E7C7B"/>
                </a:solidFill>
              </a:rPr>
              <a:t>✓</a:t>
            </a:r>
            <a:endParaRPr lang="en-US" sz="1800" dirty="0"/>
          </a:p>
        </p:txBody>
      </p:sp>
      <p:sp>
        <p:nvSpPr>
          <p:cNvPr id="15" name="Text 13"/>
          <p:cNvSpPr/>
          <p:nvPr/>
        </p:nvSpPr>
        <p:spPr>
          <a:xfrm>
            <a:off x="2331720" y="2889504"/>
            <a:ext cx="2194560" cy="329184"/>
          </a:xfrm>
          <a:prstGeom prst="rect">
            <a:avLst/>
          </a:prstGeom>
          <a:noFill/>
          <a:ln/>
        </p:spPr>
        <p:txBody>
          <a:bodyPr wrap="square" lIns="0" tIns="0" rIns="0" bIns="0" rtlCol="0" anchor="ctr"/>
          <a:lstStyle/>
          <a:p>
            <a:pPr marL="0" indent="0">
              <a:buNone/>
            </a:pPr>
            <a:r>
              <a:rPr lang="en-US" sz="1800" b="1" dirty="0">
                <a:solidFill>
                  <a:srgbClr val="0B1F33"/>
                </a:solidFill>
              </a:rPr>
              <a:t>Left / Right errors</a:t>
            </a:r>
            <a:endParaRPr lang="en-US" sz="1800" dirty="0"/>
          </a:p>
        </p:txBody>
      </p:sp>
      <p:sp>
        <p:nvSpPr>
          <p:cNvPr id="16" name="Text 14"/>
          <p:cNvSpPr/>
          <p:nvPr/>
        </p:nvSpPr>
        <p:spPr>
          <a:xfrm>
            <a:off x="2331720" y="3310128"/>
            <a:ext cx="2926080" cy="365760"/>
          </a:xfrm>
          <a:prstGeom prst="rect">
            <a:avLst/>
          </a:prstGeom>
          <a:noFill/>
          <a:ln/>
        </p:spPr>
        <p:txBody>
          <a:bodyPr wrap="square" lIns="0" tIns="0" rIns="0" bIns="0" rtlCol="0" anchor="ctr"/>
          <a:lstStyle/>
          <a:p>
            <a:pPr marL="0" indent="0">
              <a:buNone/>
            </a:pPr>
            <a:r>
              <a:rPr lang="en-US" sz="1300" dirty="0">
                <a:solidFill>
                  <a:srgbClr val="4B5563"/>
                </a:solidFill>
              </a:rPr>
              <a:t>Find asymmetry. Is one imagery class weaker?</a:t>
            </a:r>
            <a:endParaRPr lang="en-US" sz="1300" dirty="0"/>
          </a:p>
        </p:txBody>
      </p:sp>
      <p:sp>
        <p:nvSpPr>
          <p:cNvPr id="17" name="Text 15"/>
          <p:cNvSpPr/>
          <p:nvPr/>
        </p:nvSpPr>
        <p:spPr>
          <a:xfrm>
            <a:off x="6400800" y="2331720"/>
            <a:ext cx="3108960" cy="228600"/>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TIME-WINDOW IMPORTANCE</a:t>
            </a:r>
            <a:endParaRPr lang="en-US" sz="800" dirty="0"/>
          </a:p>
        </p:txBody>
      </p:sp>
      <p:sp>
        <p:nvSpPr>
          <p:cNvPr id="18" name="Shape 16"/>
          <p:cNvSpPr/>
          <p:nvPr/>
        </p:nvSpPr>
        <p:spPr>
          <a:xfrm>
            <a:off x="6583680" y="3977640"/>
            <a:ext cx="3108960" cy="0"/>
          </a:xfrm>
          <a:prstGeom prst="line">
            <a:avLst/>
          </a:prstGeom>
          <a:noFill/>
          <a:ln w="12700">
            <a:solidFill>
              <a:srgbClr val="4B5563"/>
            </a:solidFill>
            <a:prstDash val="solid"/>
          </a:ln>
        </p:spPr>
        <p:txBody>
          <a:bodyPr/>
          <a:lstStyle/>
          <a:p>
            <a:endParaRPr lang="en-US"/>
          </a:p>
        </p:txBody>
      </p:sp>
      <p:sp>
        <p:nvSpPr>
          <p:cNvPr id="19" name="Shape 17"/>
          <p:cNvSpPr/>
          <p:nvPr/>
        </p:nvSpPr>
        <p:spPr>
          <a:xfrm>
            <a:off x="6583680" y="2788920"/>
            <a:ext cx="0" cy="1188720"/>
          </a:xfrm>
          <a:prstGeom prst="line">
            <a:avLst/>
          </a:prstGeom>
          <a:noFill/>
          <a:ln w="12700">
            <a:solidFill>
              <a:srgbClr val="4B5563"/>
            </a:solidFill>
            <a:prstDash val="solid"/>
          </a:ln>
        </p:spPr>
        <p:txBody>
          <a:bodyPr/>
          <a:lstStyle/>
          <a:p>
            <a:endParaRPr lang="en-US"/>
          </a:p>
        </p:txBody>
      </p:sp>
      <p:sp>
        <p:nvSpPr>
          <p:cNvPr id="20" name="Shape 18"/>
          <p:cNvSpPr/>
          <p:nvPr/>
        </p:nvSpPr>
        <p:spPr>
          <a:xfrm>
            <a:off x="6629400" y="3822192"/>
            <a:ext cx="457200" cy="0"/>
          </a:xfrm>
          <a:prstGeom prst="line">
            <a:avLst/>
          </a:prstGeom>
          <a:noFill/>
          <a:ln w="31750">
            <a:solidFill>
              <a:srgbClr val="3B82F6"/>
            </a:solidFill>
            <a:prstDash val="solid"/>
          </a:ln>
        </p:spPr>
        <p:txBody>
          <a:bodyPr/>
          <a:lstStyle/>
          <a:p>
            <a:endParaRPr lang="en-US"/>
          </a:p>
        </p:txBody>
      </p:sp>
      <p:sp>
        <p:nvSpPr>
          <p:cNvPr id="21" name="Shape 19"/>
          <p:cNvSpPr/>
          <p:nvPr/>
        </p:nvSpPr>
        <p:spPr>
          <a:xfrm>
            <a:off x="7086600" y="3566160"/>
            <a:ext cx="457200" cy="0"/>
          </a:xfrm>
          <a:prstGeom prst="line">
            <a:avLst/>
          </a:prstGeom>
          <a:noFill/>
          <a:ln w="31750">
            <a:solidFill>
              <a:srgbClr val="3B82F6"/>
            </a:solidFill>
            <a:prstDash val="solid"/>
          </a:ln>
        </p:spPr>
        <p:txBody>
          <a:bodyPr/>
          <a:lstStyle/>
          <a:p>
            <a:endParaRPr lang="en-US"/>
          </a:p>
        </p:txBody>
      </p:sp>
      <p:sp>
        <p:nvSpPr>
          <p:cNvPr id="22" name="Shape 20"/>
          <p:cNvSpPr/>
          <p:nvPr/>
        </p:nvSpPr>
        <p:spPr>
          <a:xfrm>
            <a:off x="7543800" y="3154680"/>
            <a:ext cx="502920" cy="0"/>
          </a:xfrm>
          <a:prstGeom prst="line">
            <a:avLst/>
          </a:prstGeom>
          <a:noFill/>
          <a:ln w="31750">
            <a:solidFill>
              <a:srgbClr val="3B82F6"/>
            </a:solidFill>
            <a:prstDash val="solid"/>
          </a:ln>
        </p:spPr>
        <p:txBody>
          <a:bodyPr/>
          <a:lstStyle/>
          <a:p>
            <a:endParaRPr lang="en-US"/>
          </a:p>
        </p:txBody>
      </p:sp>
      <p:sp>
        <p:nvSpPr>
          <p:cNvPr id="23" name="Shape 21"/>
          <p:cNvSpPr/>
          <p:nvPr/>
        </p:nvSpPr>
        <p:spPr>
          <a:xfrm>
            <a:off x="8046720" y="2926080"/>
            <a:ext cx="502920" cy="320040"/>
          </a:xfrm>
          <a:prstGeom prst="line">
            <a:avLst/>
          </a:prstGeom>
          <a:noFill/>
          <a:ln w="31750">
            <a:solidFill>
              <a:srgbClr val="3B82F6"/>
            </a:solidFill>
            <a:prstDash val="solid"/>
          </a:ln>
        </p:spPr>
        <p:txBody>
          <a:bodyPr/>
          <a:lstStyle/>
          <a:p>
            <a:endParaRPr lang="en-US"/>
          </a:p>
        </p:txBody>
      </p:sp>
      <p:sp>
        <p:nvSpPr>
          <p:cNvPr id="24" name="Shape 22"/>
          <p:cNvSpPr/>
          <p:nvPr/>
        </p:nvSpPr>
        <p:spPr>
          <a:xfrm>
            <a:off x="8549640" y="3246120"/>
            <a:ext cx="502920" cy="137160"/>
          </a:xfrm>
          <a:prstGeom prst="line">
            <a:avLst/>
          </a:prstGeom>
          <a:noFill/>
          <a:ln w="31750">
            <a:solidFill>
              <a:srgbClr val="3B82F6"/>
            </a:solidFill>
            <a:prstDash val="solid"/>
          </a:ln>
        </p:spPr>
        <p:txBody>
          <a:bodyPr/>
          <a:lstStyle/>
          <a:p>
            <a:endParaRPr lang="en-US"/>
          </a:p>
        </p:txBody>
      </p:sp>
      <p:sp>
        <p:nvSpPr>
          <p:cNvPr id="25" name="Shape 23"/>
          <p:cNvSpPr/>
          <p:nvPr/>
        </p:nvSpPr>
        <p:spPr>
          <a:xfrm>
            <a:off x="9052560" y="3383280"/>
            <a:ext cx="502920" cy="320040"/>
          </a:xfrm>
          <a:prstGeom prst="line">
            <a:avLst/>
          </a:prstGeom>
          <a:noFill/>
          <a:ln w="31750">
            <a:solidFill>
              <a:srgbClr val="3B82F6"/>
            </a:solidFill>
            <a:prstDash val="solid"/>
          </a:ln>
        </p:spPr>
        <p:txBody>
          <a:bodyPr/>
          <a:lstStyle/>
          <a:p>
            <a:endParaRPr lang="en-US"/>
          </a:p>
        </p:txBody>
      </p:sp>
      <p:sp>
        <p:nvSpPr>
          <p:cNvPr id="26" name="Text 24"/>
          <p:cNvSpPr/>
          <p:nvPr/>
        </p:nvSpPr>
        <p:spPr>
          <a:xfrm>
            <a:off x="6492240" y="4315968"/>
            <a:ext cx="3017520" cy="274320"/>
          </a:xfrm>
          <a:prstGeom prst="rect">
            <a:avLst/>
          </a:prstGeom>
          <a:noFill/>
          <a:ln/>
        </p:spPr>
        <p:txBody>
          <a:bodyPr wrap="square" lIns="0" tIns="0" rIns="0" bIns="0" rtlCol="0" anchor="ctr"/>
          <a:lstStyle/>
          <a:p>
            <a:pPr marL="0" indent="0">
              <a:buNone/>
            </a:pPr>
            <a:r>
              <a:rPr lang="en-US" sz="1800" b="1" dirty="0">
                <a:solidFill>
                  <a:srgbClr val="0B1F33"/>
                </a:solidFill>
              </a:rPr>
              <a:t>When does decoding work?</a:t>
            </a:r>
            <a:endParaRPr lang="en-US" sz="1800" dirty="0"/>
          </a:p>
        </p:txBody>
      </p:sp>
      <p:sp>
        <p:nvSpPr>
          <p:cNvPr id="27" name="Text 25"/>
          <p:cNvSpPr/>
          <p:nvPr/>
        </p:nvSpPr>
        <p:spPr>
          <a:xfrm>
            <a:off x="6492240" y="4718304"/>
            <a:ext cx="3291840" cy="310896"/>
          </a:xfrm>
          <a:prstGeom prst="rect">
            <a:avLst/>
          </a:prstGeom>
          <a:noFill/>
          <a:ln/>
        </p:spPr>
        <p:txBody>
          <a:bodyPr wrap="square" lIns="0" tIns="0" rIns="0" bIns="0" rtlCol="0" anchor="ctr"/>
          <a:lstStyle/>
          <a:p>
            <a:pPr marL="0" indent="0">
              <a:buNone/>
            </a:pPr>
            <a:r>
              <a:rPr lang="en-US" sz="1300" dirty="0">
                <a:solidFill>
                  <a:srgbClr val="4B5563"/>
                </a:solidFill>
              </a:rPr>
              <a:t>Show the most informative moment(s) in the trial.</a:t>
            </a:r>
            <a:endParaRPr lang="en-US" sz="1300" dirty="0"/>
          </a:p>
        </p:txBody>
      </p:sp>
      <p:sp>
        <p:nvSpPr>
          <p:cNvPr id="28" name="Shape 26"/>
          <p:cNvSpPr/>
          <p:nvPr/>
        </p:nvSpPr>
        <p:spPr>
          <a:xfrm>
            <a:off x="914400" y="5257800"/>
            <a:ext cx="9692640" cy="493776"/>
          </a:xfrm>
          <a:prstGeom prst="roundRect">
            <a:avLst>
              <a:gd name="adj" fmla="val 25926"/>
            </a:avLst>
          </a:prstGeom>
          <a:solidFill>
            <a:srgbClr val="FFFFFF"/>
          </a:solidFill>
          <a:ln w="12700">
            <a:solidFill>
              <a:srgbClr val="E5E7EB"/>
            </a:solidFill>
            <a:prstDash val="solid"/>
          </a:ln>
        </p:spPr>
        <p:txBody>
          <a:bodyPr/>
          <a:lstStyle/>
          <a:p>
            <a:endParaRPr lang="en-US"/>
          </a:p>
        </p:txBody>
      </p:sp>
      <p:sp>
        <p:nvSpPr>
          <p:cNvPr id="29" name="Text 27"/>
          <p:cNvSpPr/>
          <p:nvPr/>
        </p:nvSpPr>
        <p:spPr>
          <a:xfrm>
            <a:off x="1042416" y="5349240"/>
            <a:ext cx="9436608" cy="310896"/>
          </a:xfrm>
          <a:prstGeom prst="rect">
            <a:avLst/>
          </a:prstGeom>
          <a:noFill/>
          <a:ln/>
        </p:spPr>
        <p:txBody>
          <a:bodyPr wrap="square" lIns="127" tIns="127" rIns="127" bIns="127" rtlCol="0" anchor="ctr">
            <a:normAutofit fontScale="85000" lnSpcReduction="10000"/>
          </a:bodyPr>
          <a:lstStyle/>
          <a:p>
            <a:pPr marL="0" indent="0">
              <a:buNone/>
            </a:pPr>
            <a:r>
              <a:rPr lang="en-US" sz="1500" b="1" dirty="0">
                <a:solidFill>
                  <a:srgbClr val="0B1F33"/>
                </a:solidFill>
                <a:latin typeface="Aptos" pitchFamily="34" charset="0"/>
                <a:ea typeface="Aptos" pitchFamily="34" charset="-122"/>
                <a:cs typeface="Aptos" pitchFamily="34" charset="-120"/>
              </a:rPr>
              <a:t>Interpretation sentence: “The model relies on physiologically plausible motor-imagery dynamics rather than random noise.”</a:t>
            </a:r>
            <a:endParaRPr lang="en-US" sz="1500" dirty="0"/>
          </a:p>
        </p:txBody>
      </p:sp>
      <p:sp>
        <p:nvSpPr>
          <p:cNvPr id="30" name="Text 28"/>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Show confusion matrix, time-window importance, and channel/frequency contribution when possible.</a:t>
            </a:r>
            <a:endParaRPr lang="en-US" sz="740" dirty="0"/>
          </a:p>
        </p:txBody>
      </p:sp>
      <p:sp>
        <p:nvSpPr>
          <p:cNvPr id="31"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fontScale="85000" lnSpcReduction="10000"/>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7 — Clinical translation: turn metrics into a decision</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6" name="Text 4"/>
          <p:cNvSpPr/>
          <p:nvPr/>
        </p:nvSpPr>
        <p:spPr>
          <a:xfrm>
            <a:off x="822960" y="2057400"/>
            <a:ext cx="5120640" cy="658368"/>
          </a:xfrm>
          <a:prstGeom prst="rect">
            <a:avLst/>
          </a:prstGeom>
          <a:noFill/>
          <a:ln/>
        </p:spPr>
        <p:txBody>
          <a:bodyPr wrap="square" lIns="381" tIns="381" rIns="381" bIns="381" rtlCol="0" anchor="ctr">
            <a:normAutofit/>
          </a:bodyPr>
          <a:lstStyle/>
          <a:p>
            <a:pPr marL="0" indent="0">
              <a:buNone/>
            </a:pPr>
            <a:r>
              <a:rPr lang="en-US" sz="1600" dirty="0">
                <a:solidFill>
                  <a:srgbClr val="4B5563"/>
                </a:solidFill>
                <a:latin typeface="Aptos" pitchFamily="34" charset="0"/>
                <a:ea typeface="Aptos" pitchFamily="34" charset="-122"/>
                <a:cs typeface="Aptos" pitchFamily="34" charset="-120"/>
              </a:rPr>
              <a:t>Use a patient report card: accuracy, above-chance reliability, class balance, and recommendation.</a:t>
            </a:r>
            <a:endParaRPr lang="en-US" sz="1600" dirty="0"/>
          </a:p>
        </p:txBody>
      </p:sp>
      <p:sp>
        <p:nvSpPr>
          <p:cNvPr id="7" name="Shape 5"/>
          <p:cNvSpPr/>
          <p:nvPr/>
        </p:nvSpPr>
        <p:spPr>
          <a:xfrm>
            <a:off x="868680" y="2971800"/>
            <a:ext cx="1828800" cy="365760"/>
          </a:xfrm>
          <a:prstGeom prst="rect">
            <a:avLst/>
          </a:prstGeom>
          <a:solidFill>
            <a:srgbClr val="0B1F33"/>
          </a:solidFill>
          <a:ln w="12700">
            <a:solidFill>
              <a:srgbClr val="FFFFFF"/>
            </a:solidFill>
            <a:prstDash val="solid"/>
          </a:ln>
        </p:spPr>
        <p:txBody>
          <a:bodyPr/>
          <a:lstStyle/>
          <a:p>
            <a:endParaRPr lang="en-US"/>
          </a:p>
        </p:txBody>
      </p:sp>
      <p:sp>
        <p:nvSpPr>
          <p:cNvPr id="8" name="Text 6"/>
          <p:cNvSpPr/>
          <p:nvPr/>
        </p:nvSpPr>
        <p:spPr>
          <a:xfrm>
            <a:off x="923544" y="3044952"/>
            <a:ext cx="1719072" cy="201168"/>
          </a:xfrm>
          <a:prstGeom prst="rect">
            <a:avLst/>
          </a:prstGeom>
          <a:noFill/>
          <a:ln/>
        </p:spPr>
        <p:txBody>
          <a:bodyPr wrap="square" lIns="0" tIns="0" rIns="0" bIns="0" rtlCol="0" anchor="ctr">
            <a:normAutofit/>
          </a:bodyPr>
          <a:lstStyle/>
          <a:p>
            <a:pPr marL="0" indent="0">
              <a:buNone/>
            </a:pPr>
            <a:r>
              <a:rPr lang="en-US" sz="1080" b="1" dirty="0">
                <a:solidFill>
                  <a:srgbClr val="FFFFFF"/>
                </a:solidFill>
              </a:rPr>
              <a:t>Metric</a:t>
            </a:r>
            <a:endParaRPr lang="en-US" sz="1080" dirty="0"/>
          </a:p>
        </p:txBody>
      </p:sp>
      <p:sp>
        <p:nvSpPr>
          <p:cNvPr id="9" name="Shape 7"/>
          <p:cNvSpPr/>
          <p:nvPr/>
        </p:nvSpPr>
        <p:spPr>
          <a:xfrm>
            <a:off x="2697480" y="2971800"/>
            <a:ext cx="1005840" cy="365760"/>
          </a:xfrm>
          <a:prstGeom prst="rect">
            <a:avLst/>
          </a:prstGeom>
          <a:solidFill>
            <a:srgbClr val="0B1F33"/>
          </a:solidFill>
          <a:ln w="12700">
            <a:solidFill>
              <a:srgbClr val="FFFFFF"/>
            </a:solidFill>
            <a:prstDash val="solid"/>
          </a:ln>
        </p:spPr>
        <p:txBody>
          <a:bodyPr/>
          <a:lstStyle/>
          <a:p>
            <a:endParaRPr lang="en-US"/>
          </a:p>
        </p:txBody>
      </p:sp>
      <p:sp>
        <p:nvSpPr>
          <p:cNvPr id="10" name="Text 8"/>
          <p:cNvSpPr/>
          <p:nvPr/>
        </p:nvSpPr>
        <p:spPr>
          <a:xfrm>
            <a:off x="2752344" y="3044952"/>
            <a:ext cx="896112" cy="201168"/>
          </a:xfrm>
          <a:prstGeom prst="rect">
            <a:avLst/>
          </a:prstGeom>
          <a:noFill/>
          <a:ln/>
        </p:spPr>
        <p:txBody>
          <a:bodyPr wrap="square" lIns="0" tIns="0" rIns="0" bIns="0" rtlCol="0" anchor="ctr">
            <a:normAutofit/>
          </a:bodyPr>
          <a:lstStyle/>
          <a:p>
            <a:pPr marL="0" indent="0">
              <a:buNone/>
            </a:pPr>
            <a:r>
              <a:rPr lang="en-US" sz="1080" b="1" dirty="0">
                <a:solidFill>
                  <a:srgbClr val="FFFFFF"/>
                </a:solidFill>
              </a:rPr>
              <a:t>PRE</a:t>
            </a:r>
            <a:endParaRPr lang="en-US" sz="1080" dirty="0"/>
          </a:p>
        </p:txBody>
      </p:sp>
      <p:sp>
        <p:nvSpPr>
          <p:cNvPr id="11" name="Shape 9"/>
          <p:cNvSpPr/>
          <p:nvPr/>
        </p:nvSpPr>
        <p:spPr>
          <a:xfrm>
            <a:off x="3703320" y="2971800"/>
            <a:ext cx="1097280" cy="365760"/>
          </a:xfrm>
          <a:prstGeom prst="rect">
            <a:avLst/>
          </a:prstGeom>
          <a:solidFill>
            <a:srgbClr val="0B1F33"/>
          </a:solidFill>
          <a:ln w="12700">
            <a:solidFill>
              <a:srgbClr val="FFFFFF"/>
            </a:solidFill>
            <a:prstDash val="solid"/>
          </a:ln>
        </p:spPr>
        <p:txBody>
          <a:bodyPr/>
          <a:lstStyle/>
          <a:p>
            <a:endParaRPr lang="en-US"/>
          </a:p>
        </p:txBody>
      </p:sp>
      <p:sp>
        <p:nvSpPr>
          <p:cNvPr id="12" name="Text 10"/>
          <p:cNvSpPr/>
          <p:nvPr/>
        </p:nvSpPr>
        <p:spPr>
          <a:xfrm>
            <a:off x="3758184" y="3044952"/>
            <a:ext cx="987552" cy="201168"/>
          </a:xfrm>
          <a:prstGeom prst="rect">
            <a:avLst/>
          </a:prstGeom>
          <a:noFill/>
          <a:ln/>
        </p:spPr>
        <p:txBody>
          <a:bodyPr wrap="square" lIns="0" tIns="0" rIns="0" bIns="0" rtlCol="0" anchor="ctr">
            <a:normAutofit/>
          </a:bodyPr>
          <a:lstStyle/>
          <a:p>
            <a:pPr marL="0" indent="0">
              <a:buNone/>
            </a:pPr>
            <a:r>
              <a:rPr lang="en-US" sz="1080" b="1" dirty="0">
                <a:solidFill>
                  <a:srgbClr val="FFFFFF"/>
                </a:solidFill>
              </a:rPr>
              <a:t>POST</a:t>
            </a:r>
            <a:endParaRPr lang="en-US" sz="1080" dirty="0"/>
          </a:p>
        </p:txBody>
      </p:sp>
      <p:sp>
        <p:nvSpPr>
          <p:cNvPr id="13" name="Shape 11"/>
          <p:cNvSpPr/>
          <p:nvPr/>
        </p:nvSpPr>
        <p:spPr>
          <a:xfrm>
            <a:off x="4800600" y="2971800"/>
            <a:ext cx="2011680" cy="365760"/>
          </a:xfrm>
          <a:prstGeom prst="rect">
            <a:avLst/>
          </a:prstGeom>
          <a:solidFill>
            <a:srgbClr val="0B1F33"/>
          </a:solidFill>
          <a:ln w="12700">
            <a:solidFill>
              <a:srgbClr val="FFFFFF"/>
            </a:solidFill>
            <a:prstDash val="solid"/>
          </a:ln>
        </p:spPr>
        <p:txBody>
          <a:bodyPr/>
          <a:lstStyle/>
          <a:p>
            <a:endParaRPr lang="en-US"/>
          </a:p>
        </p:txBody>
      </p:sp>
      <p:sp>
        <p:nvSpPr>
          <p:cNvPr id="14" name="Text 12"/>
          <p:cNvSpPr/>
          <p:nvPr/>
        </p:nvSpPr>
        <p:spPr>
          <a:xfrm>
            <a:off x="4855464" y="3044952"/>
            <a:ext cx="1901952" cy="201168"/>
          </a:xfrm>
          <a:prstGeom prst="rect">
            <a:avLst/>
          </a:prstGeom>
          <a:noFill/>
          <a:ln/>
        </p:spPr>
        <p:txBody>
          <a:bodyPr wrap="square" lIns="0" tIns="0" rIns="0" bIns="0" rtlCol="0" anchor="ctr">
            <a:normAutofit/>
          </a:bodyPr>
          <a:lstStyle/>
          <a:p>
            <a:pPr marL="0" indent="0">
              <a:buNone/>
            </a:pPr>
            <a:r>
              <a:rPr lang="en-US" sz="1080" b="1" dirty="0">
                <a:solidFill>
                  <a:srgbClr val="FFFFFF"/>
                </a:solidFill>
              </a:rPr>
              <a:t>Meaning</a:t>
            </a:r>
            <a:endParaRPr lang="en-US" sz="1080" dirty="0"/>
          </a:p>
        </p:txBody>
      </p:sp>
      <p:sp>
        <p:nvSpPr>
          <p:cNvPr id="15" name="Shape 13"/>
          <p:cNvSpPr/>
          <p:nvPr/>
        </p:nvSpPr>
        <p:spPr>
          <a:xfrm>
            <a:off x="868680" y="3364992"/>
            <a:ext cx="1828800" cy="365760"/>
          </a:xfrm>
          <a:prstGeom prst="rect">
            <a:avLst/>
          </a:prstGeom>
          <a:solidFill>
            <a:srgbClr val="FFFFFF"/>
          </a:solidFill>
          <a:ln w="12700">
            <a:solidFill>
              <a:srgbClr val="FFFFFF"/>
            </a:solidFill>
            <a:prstDash val="solid"/>
          </a:ln>
        </p:spPr>
        <p:txBody>
          <a:bodyPr/>
          <a:lstStyle/>
          <a:p>
            <a:endParaRPr lang="en-US"/>
          </a:p>
        </p:txBody>
      </p:sp>
      <p:sp>
        <p:nvSpPr>
          <p:cNvPr id="16" name="Text 14"/>
          <p:cNvSpPr/>
          <p:nvPr/>
        </p:nvSpPr>
        <p:spPr>
          <a:xfrm>
            <a:off x="923544" y="3438144"/>
            <a:ext cx="171907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Accuracy</a:t>
            </a:r>
            <a:endParaRPr lang="en-US" sz="1080" dirty="0"/>
          </a:p>
        </p:txBody>
      </p:sp>
      <p:sp>
        <p:nvSpPr>
          <p:cNvPr id="17" name="Shape 15"/>
          <p:cNvSpPr/>
          <p:nvPr/>
        </p:nvSpPr>
        <p:spPr>
          <a:xfrm>
            <a:off x="2697480" y="3364992"/>
            <a:ext cx="1005840" cy="365760"/>
          </a:xfrm>
          <a:prstGeom prst="rect">
            <a:avLst/>
          </a:prstGeom>
          <a:solidFill>
            <a:srgbClr val="FFFFFF"/>
          </a:solidFill>
          <a:ln w="12700">
            <a:solidFill>
              <a:srgbClr val="FFFFFF"/>
            </a:solidFill>
            <a:prstDash val="solid"/>
          </a:ln>
        </p:spPr>
        <p:txBody>
          <a:bodyPr/>
          <a:lstStyle/>
          <a:p>
            <a:endParaRPr lang="en-US"/>
          </a:p>
        </p:txBody>
      </p:sp>
      <p:sp>
        <p:nvSpPr>
          <p:cNvPr id="18" name="Text 16"/>
          <p:cNvSpPr/>
          <p:nvPr/>
        </p:nvSpPr>
        <p:spPr>
          <a:xfrm>
            <a:off x="2752344" y="3438144"/>
            <a:ext cx="89611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19" name="Shape 17"/>
          <p:cNvSpPr/>
          <p:nvPr/>
        </p:nvSpPr>
        <p:spPr>
          <a:xfrm>
            <a:off x="3703320" y="3364992"/>
            <a:ext cx="1097280" cy="365760"/>
          </a:xfrm>
          <a:prstGeom prst="rect">
            <a:avLst/>
          </a:prstGeom>
          <a:solidFill>
            <a:srgbClr val="FFFFFF"/>
          </a:solidFill>
          <a:ln w="12700">
            <a:solidFill>
              <a:srgbClr val="FFFFFF"/>
            </a:solidFill>
            <a:prstDash val="solid"/>
          </a:ln>
        </p:spPr>
        <p:txBody>
          <a:bodyPr/>
          <a:lstStyle/>
          <a:p>
            <a:endParaRPr lang="en-US"/>
          </a:p>
        </p:txBody>
      </p:sp>
      <p:sp>
        <p:nvSpPr>
          <p:cNvPr id="20" name="Text 18"/>
          <p:cNvSpPr/>
          <p:nvPr/>
        </p:nvSpPr>
        <p:spPr>
          <a:xfrm>
            <a:off x="3758184" y="3438144"/>
            <a:ext cx="9875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21" name="Shape 19"/>
          <p:cNvSpPr/>
          <p:nvPr/>
        </p:nvSpPr>
        <p:spPr>
          <a:xfrm>
            <a:off x="4800600" y="3364992"/>
            <a:ext cx="2011680" cy="365760"/>
          </a:xfrm>
          <a:prstGeom prst="rect">
            <a:avLst/>
          </a:prstGeom>
          <a:solidFill>
            <a:srgbClr val="FFFFFF"/>
          </a:solidFill>
          <a:ln w="12700">
            <a:solidFill>
              <a:srgbClr val="FFFFFF"/>
            </a:solidFill>
            <a:prstDash val="solid"/>
          </a:ln>
        </p:spPr>
        <p:txBody>
          <a:bodyPr/>
          <a:lstStyle/>
          <a:p>
            <a:endParaRPr lang="en-US"/>
          </a:p>
        </p:txBody>
      </p:sp>
      <p:sp>
        <p:nvSpPr>
          <p:cNvPr id="22" name="Text 20"/>
          <p:cNvSpPr/>
          <p:nvPr/>
        </p:nvSpPr>
        <p:spPr>
          <a:xfrm>
            <a:off x="4855464" y="3438144"/>
            <a:ext cx="19019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BCI control</a:t>
            </a:r>
            <a:endParaRPr lang="en-US" sz="1080" dirty="0"/>
          </a:p>
        </p:txBody>
      </p:sp>
      <p:sp>
        <p:nvSpPr>
          <p:cNvPr id="23" name="Shape 21"/>
          <p:cNvSpPr/>
          <p:nvPr/>
        </p:nvSpPr>
        <p:spPr>
          <a:xfrm>
            <a:off x="868680" y="3758184"/>
            <a:ext cx="1828800" cy="365760"/>
          </a:xfrm>
          <a:prstGeom prst="rect">
            <a:avLst/>
          </a:prstGeom>
          <a:solidFill>
            <a:srgbClr val="F3F4F6"/>
          </a:solidFill>
          <a:ln w="12700">
            <a:solidFill>
              <a:srgbClr val="FFFFFF"/>
            </a:solidFill>
            <a:prstDash val="solid"/>
          </a:ln>
        </p:spPr>
        <p:txBody>
          <a:bodyPr/>
          <a:lstStyle/>
          <a:p>
            <a:endParaRPr lang="en-US"/>
          </a:p>
        </p:txBody>
      </p:sp>
      <p:sp>
        <p:nvSpPr>
          <p:cNvPr id="24" name="Text 22"/>
          <p:cNvSpPr/>
          <p:nvPr/>
        </p:nvSpPr>
        <p:spPr>
          <a:xfrm>
            <a:off x="923544" y="3831336"/>
            <a:ext cx="171907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p vs chance</a:t>
            </a:r>
            <a:endParaRPr lang="en-US" sz="1080" dirty="0"/>
          </a:p>
        </p:txBody>
      </p:sp>
      <p:sp>
        <p:nvSpPr>
          <p:cNvPr id="25" name="Shape 23"/>
          <p:cNvSpPr/>
          <p:nvPr/>
        </p:nvSpPr>
        <p:spPr>
          <a:xfrm>
            <a:off x="2697480" y="3758184"/>
            <a:ext cx="1005840" cy="365760"/>
          </a:xfrm>
          <a:prstGeom prst="rect">
            <a:avLst/>
          </a:prstGeom>
          <a:solidFill>
            <a:srgbClr val="F3F4F6"/>
          </a:solidFill>
          <a:ln w="12700">
            <a:solidFill>
              <a:srgbClr val="FFFFFF"/>
            </a:solidFill>
            <a:prstDash val="solid"/>
          </a:ln>
        </p:spPr>
        <p:txBody>
          <a:bodyPr/>
          <a:lstStyle/>
          <a:p>
            <a:endParaRPr lang="en-US"/>
          </a:p>
        </p:txBody>
      </p:sp>
      <p:sp>
        <p:nvSpPr>
          <p:cNvPr id="26" name="Text 24"/>
          <p:cNvSpPr/>
          <p:nvPr/>
        </p:nvSpPr>
        <p:spPr>
          <a:xfrm>
            <a:off x="2752344" y="3831336"/>
            <a:ext cx="89611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27" name="Shape 25"/>
          <p:cNvSpPr/>
          <p:nvPr/>
        </p:nvSpPr>
        <p:spPr>
          <a:xfrm>
            <a:off x="3703320" y="3758184"/>
            <a:ext cx="1097280" cy="365760"/>
          </a:xfrm>
          <a:prstGeom prst="rect">
            <a:avLst/>
          </a:prstGeom>
          <a:solidFill>
            <a:srgbClr val="F3F4F6"/>
          </a:solidFill>
          <a:ln w="12700">
            <a:solidFill>
              <a:srgbClr val="FFFFFF"/>
            </a:solidFill>
            <a:prstDash val="solid"/>
          </a:ln>
        </p:spPr>
        <p:txBody>
          <a:bodyPr/>
          <a:lstStyle/>
          <a:p>
            <a:endParaRPr lang="en-US"/>
          </a:p>
        </p:txBody>
      </p:sp>
      <p:sp>
        <p:nvSpPr>
          <p:cNvPr id="28" name="Text 26"/>
          <p:cNvSpPr/>
          <p:nvPr/>
        </p:nvSpPr>
        <p:spPr>
          <a:xfrm>
            <a:off x="3758184" y="3831336"/>
            <a:ext cx="9875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29" name="Shape 27"/>
          <p:cNvSpPr/>
          <p:nvPr/>
        </p:nvSpPr>
        <p:spPr>
          <a:xfrm>
            <a:off x="4800600" y="3758184"/>
            <a:ext cx="2011680" cy="365760"/>
          </a:xfrm>
          <a:prstGeom prst="rect">
            <a:avLst/>
          </a:prstGeom>
          <a:solidFill>
            <a:srgbClr val="F3F4F6"/>
          </a:solidFill>
          <a:ln w="12700">
            <a:solidFill>
              <a:srgbClr val="FFFFFF"/>
            </a:solidFill>
            <a:prstDash val="solid"/>
          </a:ln>
        </p:spPr>
        <p:txBody>
          <a:bodyPr/>
          <a:lstStyle/>
          <a:p>
            <a:endParaRPr lang="en-US"/>
          </a:p>
        </p:txBody>
      </p:sp>
      <p:sp>
        <p:nvSpPr>
          <p:cNvPr id="30" name="Text 28"/>
          <p:cNvSpPr/>
          <p:nvPr/>
        </p:nvSpPr>
        <p:spPr>
          <a:xfrm>
            <a:off x="4855464" y="3831336"/>
            <a:ext cx="19019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reliability</a:t>
            </a:r>
            <a:endParaRPr lang="en-US" sz="1080" dirty="0"/>
          </a:p>
        </p:txBody>
      </p:sp>
      <p:sp>
        <p:nvSpPr>
          <p:cNvPr id="31" name="Shape 29"/>
          <p:cNvSpPr/>
          <p:nvPr/>
        </p:nvSpPr>
        <p:spPr>
          <a:xfrm>
            <a:off x="868680" y="4151376"/>
            <a:ext cx="1828800" cy="365760"/>
          </a:xfrm>
          <a:prstGeom prst="rect">
            <a:avLst/>
          </a:prstGeom>
          <a:solidFill>
            <a:srgbClr val="FFFFFF"/>
          </a:solidFill>
          <a:ln w="12700">
            <a:solidFill>
              <a:srgbClr val="FFFFFF"/>
            </a:solidFill>
            <a:prstDash val="solid"/>
          </a:ln>
        </p:spPr>
        <p:txBody>
          <a:bodyPr/>
          <a:lstStyle/>
          <a:p>
            <a:endParaRPr lang="en-US"/>
          </a:p>
        </p:txBody>
      </p:sp>
      <p:sp>
        <p:nvSpPr>
          <p:cNvPr id="32" name="Text 30"/>
          <p:cNvSpPr/>
          <p:nvPr/>
        </p:nvSpPr>
        <p:spPr>
          <a:xfrm>
            <a:off x="923544" y="4224528"/>
            <a:ext cx="171907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Left recall</a:t>
            </a:r>
            <a:endParaRPr lang="en-US" sz="1080" dirty="0"/>
          </a:p>
        </p:txBody>
      </p:sp>
      <p:sp>
        <p:nvSpPr>
          <p:cNvPr id="33" name="Shape 31"/>
          <p:cNvSpPr/>
          <p:nvPr/>
        </p:nvSpPr>
        <p:spPr>
          <a:xfrm>
            <a:off x="2697480" y="4151376"/>
            <a:ext cx="1005840" cy="365760"/>
          </a:xfrm>
          <a:prstGeom prst="rect">
            <a:avLst/>
          </a:prstGeom>
          <a:solidFill>
            <a:srgbClr val="FFFFFF"/>
          </a:solidFill>
          <a:ln w="12700">
            <a:solidFill>
              <a:srgbClr val="FFFFFF"/>
            </a:solidFill>
            <a:prstDash val="solid"/>
          </a:ln>
        </p:spPr>
        <p:txBody>
          <a:bodyPr/>
          <a:lstStyle/>
          <a:p>
            <a:endParaRPr lang="en-US"/>
          </a:p>
        </p:txBody>
      </p:sp>
      <p:sp>
        <p:nvSpPr>
          <p:cNvPr id="34" name="Text 32"/>
          <p:cNvSpPr/>
          <p:nvPr/>
        </p:nvSpPr>
        <p:spPr>
          <a:xfrm>
            <a:off x="2752344" y="4224528"/>
            <a:ext cx="89611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35" name="Shape 33"/>
          <p:cNvSpPr/>
          <p:nvPr/>
        </p:nvSpPr>
        <p:spPr>
          <a:xfrm>
            <a:off x="3703320" y="4151376"/>
            <a:ext cx="1097280" cy="365760"/>
          </a:xfrm>
          <a:prstGeom prst="rect">
            <a:avLst/>
          </a:prstGeom>
          <a:solidFill>
            <a:srgbClr val="FFFFFF"/>
          </a:solidFill>
          <a:ln w="12700">
            <a:solidFill>
              <a:srgbClr val="FFFFFF"/>
            </a:solidFill>
            <a:prstDash val="solid"/>
          </a:ln>
        </p:spPr>
        <p:txBody>
          <a:bodyPr/>
          <a:lstStyle/>
          <a:p>
            <a:endParaRPr lang="en-US"/>
          </a:p>
        </p:txBody>
      </p:sp>
      <p:sp>
        <p:nvSpPr>
          <p:cNvPr id="36" name="Text 34"/>
          <p:cNvSpPr/>
          <p:nvPr/>
        </p:nvSpPr>
        <p:spPr>
          <a:xfrm>
            <a:off x="3758184" y="4224528"/>
            <a:ext cx="9875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37" name="Shape 35"/>
          <p:cNvSpPr/>
          <p:nvPr/>
        </p:nvSpPr>
        <p:spPr>
          <a:xfrm>
            <a:off x="4800600" y="4151376"/>
            <a:ext cx="2011680" cy="365760"/>
          </a:xfrm>
          <a:prstGeom prst="rect">
            <a:avLst/>
          </a:prstGeom>
          <a:solidFill>
            <a:srgbClr val="FFFFFF"/>
          </a:solidFill>
          <a:ln w="12700">
            <a:solidFill>
              <a:srgbClr val="FFFFFF"/>
            </a:solidFill>
            <a:prstDash val="solid"/>
          </a:ln>
        </p:spPr>
        <p:txBody>
          <a:bodyPr/>
          <a:lstStyle/>
          <a:p>
            <a:endParaRPr lang="en-US"/>
          </a:p>
        </p:txBody>
      </p:sp>
      <p:sp>
        <p:nvSpPr>
          <p:cNvPr id="38" name="Text 36"/>
          <p:cNvSpPr/>
          <p:nvPr/>
        </p:nvSpPr>
        <p:spPr>
          <a:xfrm>
            <a:off x="4855464" y="4224528"/>
            <a:ext cx="19019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class balance</a:t>
            </a:r>
            <a:endParaRPr lang="en-US" sz="1080" dirty="0"/>
          </a:p>
        </p:txBody>
      </p:sp>
      <p:sp>
        <p:nvSpPr>
          <p:cNvPr id="39" name="Shape 37"/>
          <p:cNvSpPr/>
          <p:nvPr/>
        </p:nvSpPr>
        <p:spPr>
          <a:xfrm>
            <a:off x="868680" y="4544568"/>
            <a:ext cx="1828800" cy="365760"/>
          </a:xfrm>
          <a:prstGeom prst="rect">
            <a:avLst/>
          </a:prstGeom>
          <a:solidFill>
            <a:srgbClr val="F3F4F6"/>
          </a:solidFill>
          <a:ln w="12700">
            <a:solidFill>
              <a:srgbClr val="FFFFFF"/>
            </a:solidFill>
            <a:prstDash val="solid"/>
          </a:ln>
        </p:spPr>
        <p:txBody>
          <a:bodyPr/>
          <a:lstStyle/>
          <a:p>
            <a:endParaRPr lang="en-US"/>
          </a:p>
        </p:txBody>
      </p:sp>
      <p:sp>
        <p:nvSpPr>
          <p:cNvPr id="40" name="Text 38"/>
          <p:cNvSpPr/>
          <p:nvPr/>
        </p:nvSpPr>
        <p:spPr>
          <a:xfrm>
            <a:off x="923544" y="4617720"/>
            <a:ext cx="171907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Right recall</a:t>
            </a:r>
            <a:endParaRPr lang="en-US" sz="1080" dirty="0"/>
          </a:p>
        </p:txBody>
      </p:sp>
      <p:sp>
        <p:nvSpPr>
          <p:cNvPr id="41" name="Shape 39"/>
          <p:cNvSpPr/>
          <p:nvPr/>
        </p:nvSpPr>
        <p:spPr>
          <a:xfrm>
            <a:off x="2697480" y="4544568"/>
            <a:ext cx="1005840" cy="365760"/>
          </a:xfrm>
          <a:prstGeom prst="rect">
            <a:avLst/>
          </a:prstGeom>
          <a:solidFill>
            <a:srgbClr val="F3F4F6"/>
          </a:solidFill>
          <a:ln w="12700">
            <a:solidFill>
              <a:srgbClr val="FFFFFF"/>
            </a:solidFill>
            <a:prstDash val="solid"/>
          </a:ln>
        </p:spPr>
        <p:txBody>
          <a:bodyPr/>
          <a:lstStyle/>
          <a:p>
            <a:endParaRPr lang="en-US"/>
          </a:p>
        </p:txBody>
      </p:sp>
      <p:sp>
        <p:nvSpPr>
          <p:cNvPr id="42" name="Text 40"/>
          <p:cNvSpPr/>
          <p:nvPr/>
        </p:nvSpPr>
        <p:spPr>
          <a:xfrm>
            <a:off x="2752344" y="4617720"/>
            <a:ext cx="89611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43" name="Shape 41"/>
          <p:cNvSpPr/>
          <p:nvPr/>
        </p:nvSpPr>
        <p:spPr>
          <a:xfrm>
            <a:off x="3703320" y="4544568"/>
            <a:ext cx="1097280" cy="365760"/>
          </a:xfrm>
          <a:prstGeom prst="rect">
            <a:avLst/>
          </a:prstGeom>
          <a:solidFill>
            <a:srgbClr val="F3F4F6"/>
          </a:solidFill>
          <a:ln w="12700">
            <a:solidFill>
              <a:srgbClr val="FFFFFF"/>
            </a:solidFill>
            <a:prstDash val="solid"/>
          </a:ln>
        </p:spPr>
        <p:txBody>
          <a:bodyPr/>
          <a:lstStyle/>
          <a:p>
            <a:endParaRPr lang="en-US"/>
          </a:p>
        </p:txBody>
      </p:sp>
      <p:sp>
        <p:nvSpPr>
          <p:cNvPr id="44" name="Text 42"/>
          <p:cNvSpPr/>
          <p:nvPr/>
        </p:nvSpPr>
        <p:spPr>
          <a:xfrm>
            <a:off x="3758184" y="4617720"/>
            <a:ext cx="9875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__%</a:t>
            </a:r>
            <a:endParaRPr lang="en-US" sz="1080" dirty="0"/>
          </a:p>
        </p:txBody>
      </p:sp>
      <p:sp>
        <p:nvSpPr>
          <p:cNvPr id="45" name="Shape 43"/>
          <p:cNvSpPr/>
          <p:nvPr/>
        </p:nvSpPr>
        <p:spPr>
          <a:xfrm>
            <a:off x="4800600" y="4544568"/>
            <a:ext cx="2011680" cy="365760"/>
          </a:xfrm>
          <a:prstGeom prst="rect">
            <a:avLst/>
          </a:prstGeom>
          <a:solidFill>
            <a:srgbClr val="F3F4F6"/>
          </a:solidFill>
          <a:ln w="12700">
            <a:solidFill>
              <a:srgbClr val="FFFFFF"/>
            </a:solidFill>
            <a:prstDash val="solid"/>
          </a:ln>
        </p:spPr>
        <p:txBody>
          <a:bodyPr/>
          <a:lstStyle/>
          <a:p>
            <a:endParaRPr lang="en-US"/>
          </a:p>
        </p:txBody>
      </p:sp>
      <p:sp>
        <p:nvSpPr>
          <p:cNvPr id="46" name="Text 44"/>
          <p:cNvSpPr/>
          <p:nvPr/>
        </p:nvSpPr>
        <p:spPr>
          <a:xfrm>
            <a:off x="4855464" y="4617720"/>
            <a:ext cx="19019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class balance</a:t>
            </a:r>
            <a:endParaRPr lang="en-US" sz="1080" dirty="0"/>
          </a:p>
        </p:txBody>
      </p:sp>
      <p:sp>
        <p:nvSpPr>
          <p:cNvPr id="47" name="Shape 45"/>
          <p:cNvSpPr/>
          <p:nvPr/>
        </p:nvSpPr>
        <p:spPr>
          <a:xfrm>
            <a:off x="868680" y="4937760"/>
            <a:ext cx="1828800" cy="365760"/>
          </a:xfrm>
          <a:prstGeom prst="rect">
            <a:avLst/>
          </a:prstGeom>
          <a:solidFill>
            <a:srgbClr val="FFFFFF"/>
          </a:solidFill>
          <a:ln w="12700">
            <a:solidFill>
              <a:srgbClr val="FFFFFF"/>
            </a:solidFill>
            <a:prstDash val="solid"/>
          </a:ln>
        </p:spPr>
        <p:txBody>
          <a:bodyPr/>
          <a:lstStyle/>
          <a:p>
            <a:endParaRPr lang="en-US"/>
          </a:p>
        </p:txBody>
      </p:sp>
      <p:sp>
        <p:nvSpPr>
          <p:cNvPr id="48" name="Text 46"/>
          <p:cNvSpPr/>
          <p:nvPr/>
        </p:nvSpPr>
        <p:spPr>
          <a:xfrm>
            <a:off x="923544" y="5010912"/>
            <a:ext cx="171907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Decision</a:t>
            </a:r>
            <a:endParaRPr lang="en-US" sz="1080" dirty="0"/>
          </a:p>
        </p:txBody>
      </p:sp>
      <p:sp>
        <p:nvSpPr>
          <p:cNvPr id="49" name="Shape 47"/>
          <p:cNvSpPr/>
          <p:nvPr/>
        </p:nvSpPr>
        <p:spPr>
          <a:xfrm>
            <a:off x="2697480" y="4937760"/>
            <a:ext cx="1005840" cy="365760"/>
          </a:xfrm>
          <a:prstGeom prst="rect">
            <a:avLst/>
          </a:prstGeom>
          <a:solidFill>
            <a:srgbClr val="FFFFFF"/>
          </a:solidFill>
          <a:ln w="12700">
            <a:solidFill>
              <a:srgbClr val="FFFFFF"/>
            </a:solidFill>
            <a:prstDash val="solid"/>
          </a:ln>
        </p:spPr>
        <p:txBody>
          <a:bodyPr/>
          <a:lstStyle/>
          <a:p>
            <a:endParaRPr lang="en-US"/>
          </a:p>
        </p:txBody>
      </p:sp>
      <p:sp>
        <p:nvSpPr>
          <p:cNvPr id="50" name="Text 48"/>
          <p:cNvSpPr/>
          <p:nvPr/>
        </p:nvSpPr>
        <p:spPr>
          <a:xfrm>
            <a:off x="2752344" y="5010912"/>
            <a:ext cx="89611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calibrate?</a:t>
            </a:r>
            <a:endParaRPr lang="en-US" sz="1080" dirty="0"/>
          </a:p>
        </p:txBody>
      </p:sp>
      <p:sp>
        <p:nvSpPr>
          <p:cNvPr id="51" name="Shape 49"/>
          <p:cNvSpPr/>
          <p:nvPr/>
        </p:nvSpPr>
        <p:spPr>
          <a:xfrm>
            <a:off x="3703320" y="4937760"/>
            <a:ext cx="1097280" cy="365760"/>
          </a:xfrm>
          <a:prstGeom prst="rect">
            <a:avLst/>
          </a:prstGeom>
          <a:solidFill>
            <a:srgbClr val="FFFFFF"/>
          </a:solidFill>
          <a:ln w="12700">
            <a:solidFill>
              <a:srgbClr val="FFFFFF"/>
            </a:solidFill>
            <a:prstDash val="solid"/>
          </a:ln>
        </p:spPr>
        <p:txBody>
          <a:bodyPr/>
          <a:lstStyle/>
          <a:p>
            <a:endParaRPr lang="en-US"/>
          </a:p>
        </p:txBody>
      </p:sp>
      <p:sp>
        <p:nvSpPr>
          <p:cNvPr id="52" name="Text 50"/>
          <p:cNvSpPr/>
          <p:nvPr/>
        </p:nvSpPr>
        <p:spPr>
          <a:xfrm>
            <a:off x="3758184" y="5010912"/>
            <a:ext cx="9875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use?</a:t>
            </a:r>
            <a:endParaRPr lang="en-US" sz="1080" dirty="0"/>
          </a:p>
        </p:txBody>
      </p:sp>
      <p:sp>
        <p:nvSpPr>
          <p:cNvPr id="53" name="Shape 51"/>
          <p:cNvSpPr/>
          <p:nvPr/>
        </p:nvSpPr>
        <p:spPr>
          <a:xfrm>
            <a:off x="4800600" y="4937760"/>
            <a:ext cx="2011680" cy="365760"/>
          </a:xfrm>
          <a:prstGeom prst="rect">
            <a:avLst/>
          </a:prstGeom>
          <a:solidFill>
            <a:srgbClr val="FFFFFF"/>
          </a:solidFill>
          <a:ln w="12700">
            <a:solidFill>
              <a:srgbClr val="FFFFFF"/>
            </a:solidFill>
            <a:prstDash val="solid"/>
          </a:ln>
        </p:spPr>
        <p:txBody>
          <a:bodyPr/>
          <a:lstStyle/>
          <a:p>
            <a:endParaRPr lang="en-US"/>
          </a:p>
        </p:txBody>
      </p:sp>
      <p:sp>
        <p:nvSpPr>
          <p:cNvPr id="54" name="Text 52"/>
          <p:cNvSpPr/>
          <p:nvPr/>
        </p:nvSpPr>
        <p:spPr>
          <a:xfrm>
            <a:off x="4855464" y="5010912"/>
            <a:ext cx="1901952" cy="201168"/>
          </a:xfrm>
          <a:prstGeom prst="rect">
            <a:avLst/>
          </a:prstGeom>
          <a:noFill/>
          <a:ln/>
        </p:spPr>
        <p:txBody>
          <a:bodyPr wrap="square" lIns="0" tIns="0" rIns="0" bIns="0" rtlCol="0" anchor="ctr">
            <a:normAutofit/>
          </a:bodyPr>
          <a:lstStyle/>
          <a:p>
            <a:pPr marL="0" indent="0">
              <a:buNone/>
            </a:pPr>
            <a:r>
              <a:rPr lang="en-US" sz="1080" dirty="0">
                <a:solidFill>
                  <a:srgbClr val="0B1F33"/>
                </a:solidFill>
              </a:rPr>
              <a:t>therapy fit</a:t>
            </a:r>
            <a:endParaRPr lang="en-US" sz="1080" dirty="0"/>
          </a:p>
        </p:txBody>
      </p:sp>
      <p:sp>
        <p:nvSpPr>
          <p:cNvPr id="55" name="Text 53"/>
          <p:cNvSpPr/>
          <p:nvPr/>
        </p:nvSpPr>
        <p:spPr>
          <a:xfrm>
            <a:off x="7498080" y="2514600"/>
            <a:ext cx="3108960" cy="228600"/>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DECISION MAP</a:t>
            </a:r>
            <a:endParaRPr lang="en-US" sz="800" dirty="0"/>
          </a:p>
        </p:txBody>
      </p:sp>
      <p:sp>
        <p:nvSpPr>
          <p:cNvPr id="56" name="Shape 54"/>
          <p:cNvSpPr/>
          <p:nvPr/>
        </p:nvSpPr>
        <p:spPr>
          <a:xfrm>
            <a:off x="7680960" y="4846320"/>
            <a:ext cx="3200400" cy="0"/>
          </a:xfrm>
          <a:prstGeom prst="line">
            <a:avLst/>
          </a:prstGeom>
          <a:noFill/>
          <a:ln w="12700">
            <a:solidFill>
              <a:srgbClr val="4B5563"/>
            </a:solidFill>
            <a:prstDash val="solid"/>
          </a:ln>
        </p:spPr>
        <p:txBody>
          <a:bodyPr/>
          <a:lstStyle/>
          <a:p>
            <a:endParaRPr lang="en-US"/>
          </a:p>
        </p:txBody>
      </p:sp>
      <p:sp>
        <p:nvSpPr>
          <p:cNvPr id="57" name="Shape 55"/>
          <p:cNvSpPr/>
          <p:nvPr/>
        </p:nvSpPr>
        <p:spPr>
          <a:xfrm>
            <a:off x="9281160" y="2743200"/>
            <a:ext cx="0" cy="2103120"/>
          </a:xfrm>
          <a:prstGeom prst="line">
            <a:avLst/>
          </a:prstGeom>
          <a:noFill/>
          <a:ln w="12700">
            <a:solidFill>
              <a:srgbClr val="4B5563"/>
            </a:solidFill>
            <a:prstDash val="solid"/>
          </a:ln>
        </p:spPr>
        <p:txBody>
          <a:bodyPr/>
          <a:lstStyle/>
          <a:p>
            <a:endParaRPr lang="en-US"/>
          </a:p>
        </p:txBody>
      </p:sp>
      <p:sp>
        <p:nvSpPr>
          <p:cNvPr id="58" name="Shape 56"/>
          <p:cNvSpPr/>
          <p:nvPr/>
        </p:nvSpPr>
        <p:spPr>
          <a:xfrm>
            <a:off x="7818120" y="2926080"/>
            <a:ext cx="1234440" cy="685800"/>
          </a:xfrm>
          <a:prstGeom prst="roundRect">
            <a:avLst>
              <a:gd name="adj" fmla="val 18667"/>
            </a:avLst>
          </a:prstGeom>
          <a:solidFill>
            <a:srgbClr val="F3F4F6"/>
          </a:solidFill>
          <a:ln w="12700">
            <a:solidFill>
              <a:srgbClr val="E5E7EB"/>
            </a:solidFill>
            <a:prstDash val="solid"/>
          </a:ln>
        </p:spPr>
        <p:txBody>
          <a:bodyPr/>
          <a:lstStyle/>
          <a:p>
            <a:endParaRPr lang="en-US"/>
          </a:p>
        </p:txBody>
      </p:sp>
      <p:sp>
        <p:nvSpPr>
          <p:cNvPr id="59" name="Text 57"/>
          <p:cNvSpPr/>
          <p:nvPr/>
        </p:nvSpPr>
        <p:spPr>
          <a:xfrm>
            <a:off x="7946136" y="3017520"/>
            <a:ext cx="978408" cy="502920"/>
          </a:xfrm>
          <a:prstGeom prst="rect">
            <a:avLst/>
          </a:prstGeom>
          <a:noFill/>
          <a:ln/>
        </p:spPr>
        <p:txBody>
          <a:bodyPr wrap="square" lIns="127" tIns="127" rIns="127" bIns="127" rtlCol="0" anchor="ctr">
            <a:normAutofit/>
          </a:bodyPr>
          <a:lstStyle/>
          <a:p>
            <a:pPr marL="0" indent="0">
              <a:buNone/>
            </a:pPr>
            <a:r>
              <a:rPr lang="en-US" sz="1000" dirty="0">
                <a:solidFill>
                  <a:srgbClr val="4B5563"/>
                </a:solidFill>
                <a:latin typeface="Aptos" pitchFamily="34" charset="0"/>
                <a:ea typeface="Aptos" pitchFamily="34" charset="-122"/>
                <a:cs typeface="Aptos" pitchFamily="34" charset="-120"/>
              </a:rPr>
              <a:t>Unreliable</a:t>
            </a:r>
            <a:endParaRPr lang="en-US" sz="1000" dirty="0"/>
          </a:p>
          <a:p>
            <a:pPr marL="0" indent="0">
              <a:buNone/>
            </a:pPr>
            <a:r>
              <a:rPr lang="en-US" sz="1000" dirty="0">
                <a:solidFill>
                  <a:srgbClr val="4B5563"/>
                </a:solidFill>
                <a:latin typeface="Aptos" pitchFamily="34" charset="0"/>
                <a:ea typeface="Aptos" pitchFamily="34" charset="-122"/>
                <a:cs typeface="Aptos" pitchFamily="34" charset="-120"/>
              </a:rPr>
              <a:t>no change</a:t>
            </a:r>
            <a:endParaRPr lang="en-US" sz="1000" dirty="0"/>
          </a:p>
        </p:txBody>
      </p:sp>
      <p:sp>
        <p:nvSpPr>
          <p:cNvPr id="60" name="Shape 58"/>
          <p:cNvSpPr/>
          <p:nvPr/>
        </p:nvSpPr>
        <p:spPr>
          <a:xfrm>
            <a:off x="9509760" y="2926080"/>
            <a:ext cx="1234440" cy="685800"/>
          </a:xfrm>
          <a:prstGeom prst="roundRect">
            <a:avLst>
              <a:gd name="adj" fmla="val 18667"/>
            </a:avLst>
          </a:prstGeom>
          <a:solidFill>
            <a:srgbClr val="FFF7ED"/>
          </a:solidFill>
          <a:ln w="12700">
            <a:solidFill>
              <a:srgbClr val="F4B942"/>
            </a:solidFill>
            <a:prstDash val="solid"/>
          </a:ln>
        </p:spPr>
        <p:txBody>
          <a:bodyPr/>
          <a:lstStyle/>
          <a:p>
            <a:endParaRPr lang="en-US"/>
          </a:p>
        </p:txBody>
      </p:sp>
      <p:sp>
        <p:nvSpPr>
          <p:cNvPr id="61" name="Text 59"/>
          <p:cNvSpPr/>
          <p:nvPr/>
        </p:nvSpPr>
        <p:spPr>
          <a:xfrm>
            <a:off x="9637776" y="3017520"/>
            <a:ext cx="978408" cy="502920"/>
          </a:xfrm>
          <a:prstGeom prst="rect">
            <a:avLst/>
          </a:prstGeom>
          <a:noFill/>
          <a:ln/>
        </p:spPr>
        <p:txBody>
          <a:bodyPr wrap="square" lIns="127" tIns="127" rIns="127" bIns="127" rtlCol="0" anchor="ctr">
            <a:normAutofit/>
          </a:bodyPr>
          <a:lstStyle/>
          <a:p>
            <a:pPr marL="0" indent="0">
              <a:buNone/>
            </a:pPr>
            <a:r>
              <a:rPr lang="en-US" sz="1000" dirty="0">
                <a:solidFill>
                  <a:srgbClr val="0B1F33"/>
                </a:solidFill>
                <a:latin typeface="Aptos" pitchFamily="34" charset="0"/>
                <a:ea typeface="Aptos" pitchFamily="34" charset="-122"/>
                <a:cs typeface="Aptos" pitchFamily="34" charset="-120"/>
              </a:rPr>
              <a:t>Reliable</a:t>
            </a:r>
            <a:endParaRPr lang="en-US" sz="1000" dirty="0"/>
          </a:p>
          <a:p>
            <a:pPr marL="0" indent="0">
              <a:buNone/>
            </a:pPr>
            <a:r>
              <a:rPr lang="en-US" sz="1000" dirty="0">
                <a:solidFill>
                  <a:srgbClr val="0B1F33"/>
                </a:solidFill>
                <a:latin typeface="Aptos" pitchFamily="34" charset="0"/>
                <a:ea typeface="Aptos" pitchFamily="34" charset="-122"/>
                <a:cs typeface="Aptos" pitchFamily="34" charset="-120"/>
              </a:rPr>
              <a:t>no gain</a:t>
            </a:r>
            <a:endParaRPr lang="en-US" sz="1000" dirty="0"/>
          </a:p>
        </p:txBody>
      </p:sp>
      <p:sp>
        <p:nvSpPr>
          <p:cNvPr id="62" name="Shape 60"/>
          <p:cNvSpPr/>
          <p:nvPr/>
        </p:nvSpPr>
        <p:spPr>
          <a:xfrm>
            <a:off x="7818120" y="3886200"/>
            <a:ext cx="1234440" cy="685800"/>
          </a:xfrm>
          <a:prstGeom prst="roundRect">
            <a:avLst>
              <a:gd name="adj" fmla="val 18667"/>
            </a:avLst>
          </a:prstGeom>
          <a:solidFill>
            <a:srgbClr val="FFF0EE"/>
          </a:solidFill>
          <a:ln w="12700">
            <a:solidFill>
              <a:srgbClr val="FF6B5A"/>
            </a:solidFill>
            <a:prstDash val="solid"/>
          </a:ln>
        </p:spPr>
        <p:txBody>
          <a:bodyPr/>
          <a:lstStyle/>
          <a:p>
            <a:endParaRPr lang="en-US"/>
          </a:p>
        </p:txBody>
      </p:sp>
      <p:sp>
        <p:nvSpPr>
          <p:cNvPr id="63" name="Text 61"/>
          <p:cNvSpPr/>
          <p:nvPr/>
        </p:nvSpPr>
        <p:spPr>
          <a:xfrm>
            <a:off x="7946136" y="3977640"/>
            <a:ext cx="978408" cy="502920"/>
          </a:xfrm>
          <a:prstGeom prst="rect">
            <a:avLst/>
          </a:prstGeom>
          <a:noFill/>
          <a:ln/>
        </p:spPr>
        <p:txBody>
          <a:bodyPr wrap="square" lIns="127" tIns="127" rIns="127" bIns="127" rtlCol="0" anchor="ctr">
            <a:normAutofit/>
          </a:bodyPr>
          <a:lstStyle/>
          <a:p>
            <a:pPr marL="0" indent="0">
              <a:buNone/>
            </a:pPr>
            <a:r>
              <a:rPr lang="en-US" sz="1000" dirty="0">
                <a:solidFill>
                  <a:srgbClr val="0B1F33"/>
                </a:solidFill>
                <a:latin typeface="Aptos" pitchFamily="34" charset="0"/>
                <a:ea typeface="Aptos" pitchFamily="34" charset="-122"/>
                <a:cs typeface="Aptos" pitchFamily="34" charset="-120"/>
              </a:rPr>
              <a:t>Improved</a:t>
            </a:r>
            <a:endParaRPr lang="en-US" sz="1000" dirty="0"/>
          </a:p>
          <a:p>
            <a:pPr marL="0" indent="0">
              <a:buNone/>
            </a:pPr>
            <a:r>
              <a:rPr lang="en-US" sz="1000" dirty="0">
                <a:solidFill>
                  <a:srgbClr val="0B1F33"/>
                </a:solidFill>
                <a:latin typeface="Aptos" pitchFamily="34" charset="0"/>
                <a:ea typeface="Aptos" pitchFamily="34" charset="-122"/>
                <a:cs typeface="Aptos" pitchFamily="34" charset="-120"/>
              </a:rPr>
              <a:t>not reliable</a:t>
            </a:r>
            <a:endParaRPr lang="en-US" sz="1000" dirty="0"/>
          </a:p>
        </p:txBody>
      </p:sp>
      <p:sp>
        <p:nvSpPr>
          <p:cNvPr id="64" name="Shape 62"/>
          <p:cNvSpPr/>
          <p:nvPr/>
        </p:nvSpPr>
        <p:spPr>
          <a:xfrm>
            <a:off x="9509760" y="3886200"/>
            <a:ext cx="1234440" cy="685800"/>
          </a:xfrm>
          <a:prstGeom prst="roundRect">
            <a:avLst>
              <a:gd name="adj" fmla="val 18667"/>
            </a:avLst>
          </a:prstGeom>
          <a:solidFill>
            <a:srgbClr val="E6F5F3"/>
          </a:solidFill>
          <a:ln w="12700">
            <a:solidFill>
              <a:srgbClr val="0E7C7B"/>
            </a:solidFill>
            <a:prstDash val="solid"/>
          </a:ln>
        </p:spPr>
        <p:txBody>
          <a:bodyPr/>
          <a:lstStyle/>
          <a:p>
            <a:endParaRPr lang="en-US"/>
          </a:p>
        </p:txBody>
      </p:sp>
      <p:sp>
        <p:nvSpPr>
          <p:cNvPr id="65" name="Text 63"/>
          <p:cNvSpPr/>
          <p:nvPr/>
        </p:nvSpPr>
        <p:spPr>
          <a:xfrm>
            <a:off x="9637776" y="3977640"/>
            <a:ext cx="978408" cy="502920"/>
          </a:xfrm>
          <a:prstGeom prst="rect">
            <a:avLst/>
          </a:prstGeom>
          <a:noFill/>
          <a:ln/>
        </p:spPr>
        <p:txBody>
          <a:bodyPr wrap="square" lIns="127" tIns="127" rIns="127" bIns="127" rtlCol="0" anchor="ctr">
            <a:normAutofit/>
          </a:bodyPr>
          <a:lstStyle/>
          <a:p>
            <a:pPr marL="0" indent="0">
              <a:buNone/>
            </a:pPr>
            <a:r>
              <a:rPr lang="en-US" sz="1000" b="1" dirty="0">
                <a:solidFill>
                  <a:srgbClr val="0B1F33"/>
                </a:solidFill>
                <a:latin typeface="Aptos" pitchFamily="34" charset="0"/>
                <a:ea typeface="Aptos" pitchFamily="34" charset="-122"/>
                <a:cs typeface="Aptos" pitchFamily="34" charset="-120"/>
              </a:rPr>
              <a:t>Improved +</a:t>
            </a:r>
            <a:endParaRPr lang="en-US" sz="1000" dirty="0"/>
          </a:p>
          <a:p>
            <a:pPr marL="0" indent="0">
              <a:buNone/>
            </a:pPr>
            <a:r>
              <a:rPr lang="en-US" sz="1000" b="1" dirty="0">
                <a:solidFill>
                  <a:srgbClr val="0B1F33"/>
                </a:solidFill>
                <a:latin typeface="Aptos" pitchFamily="34" charset="0"/>
                <a:ea typeface="Aptos" pitchFamily="34" charset="-122"/>
                <a:cs typeface="Aptos" pitchFamily="34" charset="-120"/>
              </a:rPr>
              <a:t>reliable</a:t>
            </a:r>
            <a:endParaRPr lang="en-US" sz="1000" dirty="0"/>
          </a:p>
        </p:txBody>
      </p:sp>
      <p:sp>
        <p:nvSpPr>
          <p:cNvPr id="66" name="Text 64"/>
          <p:cNvSpPr/>
          <p:nvPr/>
        </p:nvSpPr>
        <p:spPr>
          <a:xfrm>
            <a:off x="8321040" y="5074920"/>
            <a:ext cx="1920240" cy="228600"/>
          </a:xfrm>
          <a:prstGeom prst="rect">
            <a:avLst/>
          </a:prstGeom>
          <a:noFill/>
          <a:ln/>
        </p:spPr>
        <p:txBody>
          <a:bodyPr wrap="square" lIns="0" tIns="0" rIns="0" bIns="0" rtlCol="0" anchor="ctr"/>
          <a:lstStyle/>
          <a:p>
            <a:pPr marL="0" indent="0" algn="ctr">
              <a:buNone/>
            </a:pPr>
            <a:r>
              <a:rPr lang="en-US" sz="1000" dirty="0">
                <a:solidFill>
                  <a:srgbClr val="4B5563"/>
                </a:solidFill>
              </a:rPr>
              <a:t>Reliability →</a:t>
            </a:r>
            <a:endParaRPr lang="en-US" sz="1000" dirty="0"/>
          </a:p>
        </p:txBody>
      </p:sp>
      <p:sp>
        <p:nvSpPr>
          <p:cNvPr id="67" name="Text 65"/>
          <p:cNvSpPr/>
          <p:nvPr/>
        </p:nvSpPr>
        <p:spPr>
          <a:xfrm rot="16200000">
            <a:off x="10835640" y="3337560"/>
            <a:ext cx="594360" cy="731520"/>
          </a:xfrm>
          <a:prstGeom prst="rect">
            <a:avLst/>
          </a:prstGeom>
          <a:noFill/>
          <a:ln/>
        </p:spPr>
        <p:txBody>
          <a:bodyPr wrap="square" lIns="0" tIns="0" rIns="0" bIns="0" rtlCol="0" anchor="ctr"/>
          <a:lstStyle/>
          <a:p>
            <a:pPr marL="0" indent="0">
              <a:buNone/>
            </a:pPr>
            <a:r>
              <a:rPr lang="en-US" sz="1000" dirty="0">
                <a:solidFill>
                  <a:srgbClr val="4B5563"/>
                </a:solidFill>
              </a:rPr>
              <a:t>Improvement ↑</a:t>
            </a:r>
            <a:endParaRPr lang="en-US" sz="1000" dirty="0"/>
          </a:p>
        </p:txBody>
      </p:sp>
      <p:sp>
        <p:nvSpPr>
          <p:cNvPr id="68" name="Text 66"/>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This slide makes your project look like a useful clinical tool, not a notebook output.</a:t>
            </a:r>
            <a:endParaRPr lang="en-US" sz="740" dirty="0"/>
          </a:p>
        </p:txBody>
      </p:sp>
      <p:sp>
        <p:nvSpPr>
          <p:cNvPr id="69"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BUILD THIS SLIDE</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Slide 8 — State of the art: be credible and precise</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77240" y="1417320"/>
            <a:ext cx="8723376" cy="502920"/>
          </a:xfrm>
          <a:prstGeom prst="rect">
            <a:avLst/>
          </a:prstGeom>
          <a:noFill/>
          <a:ln/>
        </p:spPr>
        <p:txBody>
          <a:bodyPr wrap="square" lIns="0" tIns="0" rIns="0" bIns="0" rtlCol="0" anchor="ctr">
            <a:noAutofit/>
          </a:bodyP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Use the provided paper as inspiration, not as an overclaim.</a:t>
            </a:r>
            <a:endParaRPr lang="en-US" sz="2000" dirty="0"/>
          </a:p>
        </p:txBody>
      </p:sp>
      <p:sp>
        <p:nvSpPr>
          <p:cNvPr id="6" name="Shape 4"/>
          <p:cNvSpPr/>
          <p:nvPr/>
        </p:nvSpPr>
        <p:spPr>
          <a:xfrm>
            <a:off x="914400" y="2514600"/>
            <a:ext cx="2331720" cy="987552"/>
          </a:xfrm>
          <a:prstGeom prst="roundRect">
            <a:avLst>
              <a:gd name="adj" fmla="val 12963"/>
            </a:avLst>
          </a:prstGeom>
          <a:solidFill>
            <a:srgbClr val="FFFFFF"/>
          </a:solidFill>
          <a:ln w="12700">
            <a:solidFill>
              <a:srgbClr val="E5E7EB"/>
            </a:solidFill>
            <a:prstDash val="solid"/>
          </a:ln>
        </p:spPr>
        <p:txBody>
          <a:bodyPr/>
          <a:lstStyle/>
          <a:p>
            <a:endParaRPr lang="en-US"/>
          </a:p>
        </p:txBody>
      </p:sp>
      <p:sp>
        <p:nvSpPr>
          <p:cNvPr id="7" name="Text 5"/>
          <p:cNvSpPr/>
          <p:nvPr/>
        </p:nvSpPr>
        <p:spPr>
          <a:xfrm>
            <a:off x="1042416" y="2606040"/>
            <a:ext cx="2075688" cy="804672"/>
          </a:xfrm>
          <a:prstGeom prst="rect">
            <a:avLst/>
          </a:prstGeom>
          <a:noFill/>
          <a:ln/>
        </p:spPr>
        <p:txBody>
          <a:bodyPr wrap="square" lIns="127" tIns="127" rIns="127" bIns="127" rtlCol="0" anchor="ctr">
            <a:normAutofit/>
          </a:bodyPr>
          <a:lstStyle/>
          <a:p>
            <a:pPr marL="0" indent="0">
              <a:buNone/>
            </a:pPr>
            <a:r>
              <a:rPr lang="en-US" sz="1600" b="1" dirty="0">
                <a:solidFill>
                  <a:srgbClr val="0B1F33"/>
                </a:solidFill>
                <a:latin typeface="Aptos" pitchFamily="34" charset="0"/>
                <a:ea typeface="Aptos" pitchFamily="34" charset="-122"/>
                <a:cs typeface="Aptos" pitchFamily="34" charset="-120"/>
              </a:rPr>
              <a:t>Standard LDA</a:t>
            </a:r>
            <a:endParaRPr lang="en-US" sz="1600" dirty="0"/>
          </a:p>
          <a:p>
            <a:pPr marL="0" indent="0">
              <a:buNone/>
            </a:pPr>
            <a:r>
              <a:rPr lang="en-US" sz="1600" b="1" dirty="0">
                <a:solidFill>
                  <a:srgbClr val="0B1F33"/>
                </a:solidFill>
                <a:latin typeface="Aptos" pitchFamily="34" charset="0"/>
                <a:ea typeface="Aptos" pitchFamily="34" charset="-122"/>
                <a:cs typeface="Aptos" pitchFamily="34" charset="-120"/>
              </a:rPr>
              <a:t>static time point</a:t>
            </a:r>
            <a:endParaRPr lang="en-US" sz="1600" dirty="0"/>
          </a:p>
        </p:txBody>
      </p:sp>
      <p:sp>
        <p:nvSpPr>
          <p:cNvPr id="8" name="Shape 6"/>
          <p:cNvSpPr/>
          <p:nvPr/>
        </p:nvSpPr>
        <p:spPr>
          <a:xfrm>
            <a:off x="3337560" y="3008376"/>
            <a:ext cx="1463040" cy="0"/>
          </a:xfrm>
          <a:prstGeom prst="line">
            <a:avLst/>
          </a:prstGeom>
          <a:noFill/>
          <a:ln w="25400">
            <a:solidFill>
              <a:srgbClr val="4B5563"/>
            </a:solidFill>
            <a:prstDash val="solid"/>
            <a:headEnd type="none"/>
            <a:tailEnd type="triangle"/>
          </a:ln>
        </p:spPr>
        <p:txBody>
          <a:bodyPr/>
          <a:lstStyle/>
          <a:p>
            <a:endParaRPr lang="en-US"/>
          </a:p>
        </p:txBody>
      </p:sp>
      <p:sp>
        <p:nvSpPr>
          <p:cNvPr id="9" name="Shape 7"/>
          <p:cNvSpPr/>
          <p:nvPr/>
        </p:nvSpPr>
        <p:spPr>
          <a:xfrm>
            <a:off x="4983480" y="2514600"/>
            <a:ext cx="2697480" cy="987552"/>
          </a:xfrm>
          <a:prstGeom prst="roundRect">
            <a:avLst>
              <a:gd name="adj" fmla="val 12963"/>
            </a:avLst>
          </a:prstGeom>
          <a:solidFill>
            <a:srgbClr val="E6F5F3"/>
          </a:solidFill>
          <a:ln w="12700">
            <a:solidFill>
              <a:srgbClr val="0E7C7B"/>
            </a:solidFill>
            <a:prstDash val="solid"/>
          </a:ln>
        </p:spPr>
        <p:txBody>
          <a:bodyPr/>
          <a:lstStyle/>
          <a:p>
            <a:endParaRPr lang="en-US"/>
          </a:p>
        </p:txBody>
      </p:sp>
      <p:sp>
        <p:nvSpPr>
          <p:cNvPr id="10" name="Text 8"/>
          <p:cNvSpPr/>
          <p:nvPr/>
        </p:nvSpPr>
        <p:spPr>
          <a:xfrm>
            <a:off x="5111496" y="2606040"/>
            <a:ext cx="2441448" cy="804672"/>
          </a:xfrm>
          <a:prstGeom prst="rect">
            <a:avLst/>
          </a:prstGeom>
          <a:noFill/>
          <a:ln/>
        </p:spPr>
        <p:txBody>
          <a:bodyPr wrap="square" lIns="127" tIns="127" rIns="127" bIns="127" rtlCol="0" anchor="ctr">
            <a:normAutofit/>
          </a:bodyPr>
          <a:lstStyle/>
          <a:p>
            <a:pPr marL="0" indent="0">
              <a:buNone/>
            </a:pPr>
            <a:r>
              <a:rPr lang="en-US" sz="1600" b="1" dirty="0">
                <a:solidFill>
                  <a:srgbClr val="0B1F33"/>
                </a:solidFill>
                <a:latin typeface="Aptos" pitchFamily="34" charset="0"/>
                <a:ea typeface="Aptos" pitchFamily="34" charset="-122"/>
                <a:cs typeface="Aptos" pitchFamily="34" charset="-120"/>
              </a:rPr>
              <a:t>Time-aware idea</a:t>
            </a:r>
            <a:endParaRPr lang="en-US" sz="1600" dirty="0"/>
          </a:p>
          <a:p>
            <a:pPr marL="0" indent="0">
              <a:buNone/>
            </a:pPr>
            <a:r>
              <a:rPr lang="en-US" sz="1600" b="1" dirty="0">
                <a:solidFill>
                  <a:srgbClr val="0B1F33"/>
                </a:solidFill>
                <a:latin typeface="Aptos" pitchFamily="34" charset="0"/>
                <a:ea typeface="Aptos" pitchFamily="34" charset="-122"/>
                <a:cs typeface="Aptos" pitchFamily="34" charset="-120"/>
              </a:rPr>
              <a:t>use information across the trial</a:t>
            </a:r>
            <a:endParaRPr lang="en-US" sz="1600" dirty="0"/>
          </a:p>
        </p:txBody>
      </p:sp>
      <p:sp>
        <p:nvSpPr>
          <p:cNvPr id="11" name="Shape 9"/>
          <p:cNvSpPr/>
          <p:nvPr/>
        </p:nvSpPr>
        <p:spPr>
          <a:xfrm>
            <a:off x="7772400" y="3008376"/>
            <a:ext cx="1463040" cy="0"/>
          </a:xfrm>
          <a:prstGeom prst="line">
            <a:avLst/>
          </a:prstGeom>
          <a:noFill/>
          <a:ln w="25400">
            <a:solidFill>
              <a:srgbClr val="4B5563"/>
            </a:solidFill>
            <a:prstDash val="solid"/>
            <a:headEnd type="none"/>
            <a:tailEnd type="triangle"/>
          </a:ln>
        </p:spPr>
        <p:txBody>
          <a:bodyPr/>
          <a:lstStyle/>
          <a:p>
            <a:endParaRPr lang="en-US"/>
          </a:p>
        </p:txBody>
      </p:sp>
      <p:sp>
        <p:nvSpPr>
          <p:cNvPr id="12" name="Shape 10"/>
          <p:cNvSpPr/>
          <p:nvPr/>
        </p:nvSpPr>
        <p:spPr>
          <a:xfrm>
            <a:off x="9372600" y="2514600"/>
            <a:ext cx="2194560" cy="987552"/>
          </a:xfrm>
          <a:prstGeom prst="roundRect">
            <a:avLst>
              <a:gd name="adj" fmla="val 12963"/>
            </a:avLst>
          </a:prstGeom>
          <a:solidFill>
            <a:srgbClr val="FFF0EE"/>
          </a:solidFill>
          <a:ln w="12700">
            <a:solidFill>
              <a:srgbClr val="FF6B5A"/>
            </a:solidFill>
            <a:prstDash val="solid"/>
          </a:ln>
        </p:spPr>
        <p:txBody>
          <a:bodyPr/>
          <a:lstStyle/>
          <a:p>
            <a:endParaRPr lang="en-US"/>
          </a:p>
        </p:txBody>
      </p:sp>
      <p:sp>
        <p:nvSpPr>
          <p:cNvPr id="13" name="Text 11"/>
          <p:cNvSpPr/>
          <p:nvPr/>
        </p:nvSpPr>
        <p:spPr>
          <a:xfrm>
            <a:off x="9500616" y="2606040"/>
            <a:ext cx="1938528" cy="804672"/>
          </a:xfrm>
          <a:prstGeom prst="rect">
            <a:avLst/>
          </a:prstGeom>
          <a:noFill/>
          <a:ln/>
        </p:spPr>
        <p:txBody>
          <a:bodyPr wrap="square" lIns="127" tIns="127" rIns="127" bIns="127" rtlCol="0" anchor="ctr">
            <a:normAutofit/>
          </a:bodyPr>
          <a:lstStyle/>
          <a:p>
            <a:pPr marL="0" indent="0">
              <a:buNone/>
            </a:pPr>
            <a:r>
              <a:rPr lang="en-US" sz="1500" b="1" dirty="0">
                <a:solidFill>
                  <a:srgbClr val="0B1F33"/>
                </a:solidFill>
                <a:latin typeface="Aptos" pitchFamily="34" charset="0"/>
                <a:ea typeface="Aptos" pitchFamily="34" charset="-122"/>
                <a:cs typeface="Aptos" pitchFamily="34" charset="-120"/>
              </a:rPr>
              <a:t>Your EEG project</a:t>
            </a:r>
            <a:endParaRPr lang="en-US" sz="1500" dirty="0"/>
          </a:p>
          <a:p>
            <a:pPr marL="0" indent="0">
              <a:buNone/>
            </a:pPr>
            <a:r>
              <a:rPr lang="en-US" sz="1500" b="1" dirty="0">
                <a:solidFill>
                  <a:srgbClr val="0B1F33"/>
                </a:solidFill>
                <a:latin typeface="Aptos" pitchFamily="34" charset="0"/>
                <a:ea typeface="Aptos" pitchFamily="34" charset="-122"/>
                <a:cs typeface="Aptos" pitchFamily="34" charset="-120"/>
              </a:rPr>
              <a:t>try time-window analysis</a:t>
            </a:r>
            <a:endParaRPr lang="en-US" sz="1500" dirty="0"/>
          </a:p>
        </p:txBody>
      </p:sp>
      <p:sp>
        <p:nvSpPr>
          <p:cNvPr id="14" name="Text 12"/>
          <p:cNvSpPr/>
          <p:nvPr/>
        </p:nvSpPr>
        <p:spPr>
          <a:xfrm>
            <a:off x="914400" y="4114800"/>
            <a:ext cx="9784080" cy="749808"/>
          </a:xfrm>
          <a:prstGeom prst="rect">
            <a:avLst/>
          </a:prstGeom>
          <a:noFill/>
          <a:ln/>
        </p:spPr>
        <p:txBody>
          <a:bodyPr wrap="square" lIns="381" tIns="381" rIns="381" bIns="381" rtlCol="0" anchor="ctr">
            <a:normAutofit/>
          </a:bodyPr>
          <a:lstStyle/>
          <a:p>
            <a:pPr marL="0" indent="0">
              <a:buNone/>
            </a:pPr>
            <a:r>
              <a:rPr lang="en-US" sz="1600" dirty="0">
                <a:solidFill>
                  <a:srgbClr val="4B5563"/>
                </a:solidFill>
                <a:latin typeface="Aptos" pitchFamily="34" charset="0"/>
                <a:ea typeface="Aptos" pitchFamily="34" charset="-122"/>
                <a:cs typeface="Aptos" pitchFamily="34" charset="-120"/>
              </a:rPr>
              <a:t>Suggested comparison: baseline CSP+LDA/SVM vs your best pipeline. Then discuss why the best method is useful for real-time feedback.</a:t>
            </a:r>
            <a:endParaRPr lang="en-US" sz="1600" dirty="0"/>
          </a:p>
        </p:txBody>
      </p:sp>
      <p:sp>
        <p:nvSpPr>
          <p:cNvPr id="17" name="Text 15"/>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Avoid claiming ECoG results directly transfer to EEG. Use the paper to motivate time-aware, low-complexity decoding.</a:t>
            </a:r>
            <a:endParaRPr lang="en-US" sz="740" dirty="0"/>
          </a:p>
        </p:txBody>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DIFFERENTIATION</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How to outperform the other teams</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Text 3"/>
          <p:cNvSpPr/>
          <p:nvPr/>
        </p:nvSpPr>
        <p:spPr>
          <a:xfrm>
            <a:off x="777240" y="1417320"/>
            <a:ext cx="6583680" cy="502920"/>
          </a:xfrm>
          <a:prstGeom prst="rect">
            <a:avLst/>
          </a:prstGeom>
          <a:noFill/>
          <a:ln/>
        </p:spPr>
        <p:txBody>
          <a:bodyPr wrap="square" lIns="0" tIns="0" rIns="0" bIns="0" rtlCol="0" anchor="ctr">
            <a:normAutofit fontScale="70000" lnSpcReduction="20000"/>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Most teams will show accuracy. You should show clinical usefulness.</a:t>
            </a:r>
            <a:endParaRPr lang="en-US" sz="2700" dirty="0"/>
          </a:p>
        </p:txBody>
      </p:sp>
      <p:sp>
        <p:nvSpPr>
          <p:cNvPr id="6" name="Shape 4"/>
          <p:cNvSpPr/>
          <p:nvPr/>
        </p:nvSpPr>
        <p:spPr>
          <a:xfrm>
            <a:off x="914400" y="5166360"/>
            <a:ext cx="1645920" cy="548640"/>
          </a:xfrm>
          <a:prstGeom prst="roundRect">
            <a:avLst>
              <a:gd name="adj" fmla="val 23333"/>
            </a:avLst>
          </a:prstGeom>
          <a:solidFill>
            <a:srgbClr val="FFFFFF"/>
          </a:solidFill>
          <a:ln w="12700">
            <a:solidFill>
              <a:srgbClr val="E5E7EB"/>
            </a:solidFill>
            <a:prstDash val="solid"/>
          </a:ln>
        </p:spPr>
        <p:txBody>
          <a:bodyPr/>
          <a:lstStyle/>
          <a:p>
            <a:endParaRPr lang="en-US"/>
          </a:p>
        </p:txBody>
      </p:sp>
      <p:sp>
        <p:nvSpPr>
          <p:cNvPr id="7" name="Text 5"/>
          <p:cNvSpPr/>
          <p:nvPr/>
        </p:nvSpPr>
        <p:spPr>
          <a:xfrm>
            <a:off x="1042416" y="5257800"/>
            <a:ext cx="1389888" cy="365760"/>
          </a:xfrm>
          <a:prstGeom prst="rect">
            <a:avLst/>
          </a:prstGeom>
          <a:noFill/>
          <a:ln/>
        </p:spPr>
        <p:txBody>
          <a:bodyPr wrap="square" lIns="127" tIns="127" rIns="127" bIns="127" rtlCol="0" anchor="ctr">
            <a:normAutofit/>
          </a:bodyPr>
          <a:lstStyle/>
          <a:p>
            <a:pPr marL="0" indent="0">
              <a:buNone/>
            </a:pPr>
            <a:r>
              <a:rPr lang="en-US" sz="1250" b="1" dirty="0">
                <a:solidFill>
                  <a:srgbClr val="0B1F33"/>
                </a:solidFill>
                <a:latin typeface="Aptos" pitchFamily="34" charset="0"/>
                <a:ea typeface="Aptos" pitchFamily="34" charset="-122"/>
                <a:cs typeface="Aptos" pitchFamily="34" charset="-120"/>
              </a:rPr>
              <a:t>1  Accuracy</a:t>
            </a:r>
            <a:endParaRPr lang="en-US" sz="1250" dirty="0"/>
          </a:p>
        </p:txBody>
      </p:sp>
      <p:sp>
        <p:nvSpPr>
          <p:cNvPr id="8" name="Text 6"/>
          <p:cNvSpPr/>
          <p:nvPr/>
        </p:nvSpPr>
        <p:spPr>
          <a:xfrm>
            <a:off x="914400" y="5824728"/>
            <a:ext cx="1645920" cy="228600"/>
          </a:xfrm>
          <a:prstGeom prst="rect">
            <a:avLst/>
          </a:prstGeom>
          <a:noFill/>
          <a:ln/>
        </p:spPr>
        <p:txBody>
          <a:bodyPr wrap="square" lIns="0" tIns="0" rIns="0" bIns="0" rtlCol="0" anchor="ctr"/>
          <a:lstStyle/>
          <a:p>
            <a:pPr marL="0" indent="0" algn="ctr">
              <a:buNone/>
            </a:pPr>
            <a:r>
              <a:rPr lang="en-US" sz="1050" dirty="0">
                <a:solidFill>
                  <a:srgbClr val="4B5563"/>
                </a:solidFill>
              </a:rPr>
              <a:t>model works</a:t>
            </a:r>
            <a:endParaRPr lang="en-US" sz="1050" dirty="0"/>
          </a:p>
        </p:txBody>
      </p:sp>
      <p:sp>
        <p:nvSpPr>
          <p:cNvPr id="9" name="Shape 7"/>
          <p:cNvSpPr/>
          <p:nvPr/>
        </p:nvSpPr>
        <p:spPr>
          <a:xfrm>
            <a:off x="2999232" y="4636008"/>
            <a:ext cx="1645920" cy="548640"/>
          </a:xfrm>
          <a:prstGeom prst="roundRect">
            <a:avLst>
              <a:gd name="adj" fmla="val 23333"/>
            </a:avLst>
          </a:prstGeom>
          <a:solidFill>
            <a:srgbClr val="FFFFFF"/>
          </a:solidFill>
          <a:ln w="12700">
            <a:solidFill>
              <a:srgbClr val="E5E7EB"/>
            </a:solidFill>
            <a:prstDash val="solid"/>
          </a:ln>
        </p:spPr>
        <p:txBody>
          <a:bodyPr/>
          <a:lstStyle/>
          <a:p>
            <a:endParaRPr lang="en-US"/>
          </a:p>
        </p:txBody>
      </p:sp>
      <p:sp>
        <p:nvSpPr>
          <p:cNvPr id="10" name="Text 8"/>
          <p:cNvSpPr/>
          <p:nvPr/>
        </p:nvSpPr>
        <p:spPr>
          <a:xfrm>
            <a:off x="3127248" y="4727448"/>
            <a:ext cx="1389888" cy="365760"/>
          </a:xfrm>
          <a:prstGeom prst="rect">
            <a:avLst/>
          </a:prstGeom>
          <a:noFill/>
          <a:ln/>
        </p:spPr>
        <p:txBody>
          <a:bodyPr wrap="square" lIns="127" tIns="127" rIns="127" bIns="127" rtlCol="0" anchor="ctr">
            <a:normAutofit/>
          </a:bodyPr>
          <a:lstStyle/>
          <a:p>
            <a:pPr marL="0" indent="0">
              <a:buNone/>
            </a:pPr>
            <a:r>
              <a:rPr lang="en-US" sz="1250" b="1" dirty="0">
                <a:solidFill>
                  <a:srgbClr val="0B1F33"/>
                </a:solidFill>
                <a:latin typeface="Aptos" pitchFamily="34" charset="0"/>
                <a:ea typeface="Aptos" pitchFamily="34" charset="-122"/>
                <a:cs typeface="Aptos" pitchFamily="34" charset="-120"/>
              </a:rPr>
              <a:t>2  Significance</a:t>
            </a:r>
            <a:endParaRPr lang="en-US" sz="1250" dirty="0"/>
          </a:p>
        </p:txBody>
      </p:sp>
      <p:sp>
        <p:nvSpPr>
          <p:cNvPr id="11" name="Text 9"/>
          <p:cNvSpPr/>
          <p:nvPr/>
        </p:nvSpPr>
        <p:spPr>
          <a:xfrm>
            <a:off x="2999232" y="5294376"/>
            <a:ext cx="1645920" cy="228600"/>
          </a:xfrm>
          <a:prstGeom prst="rect">
            <a:avLst/>
          </a:prstGeom>
          <a:noFill/>
          <a:ln/>
        </p:spPr>
        <p:txBody>
          <a:bodyPr wrap="square" lIns="0" tIns="0" rIns="0" bIns="0" rtlCol="0" anchor="ctr"/>
          <a:lstStyle/>
          <a:p>
            <a:pPr marL="0" indent="0" algn="ctr">
              <a:buNone/>
            </a:pPr>
            <a:r>
              <a:rPr lang="en-US" sz="1050" dirty="0">
                <a:solidFill>
                  <a:srgbClr val="4B5563"/>
                </a:solidFill>
              </a:rPr>
              <a:t>not random</a:t>
            </a:r>
            <a:endParaRPr lang="en-US" sz="1050" dirty="0"/>
          </a:p>
        </p:txBody>
      </p:sp>
      <p:sp>
        <p:nvSpPr>
          <p:cNvPr id="12" name="Shape 10"/>
          <p:cNvSpPr/>
          <p:nvPr/>
        </p:nvSpPr>
        <p:spPr>
          <a:xfrm>
            <a:off x="5084064" y="4105656"/>
            <a:ext cx="1645920" cy="548640"/>
          </a:xfrm>
          <a:prstGeom prst="roundRect">
            <a:avLst>
              <a:gd name="adj" fmla="val 23333"/>
            </a:avLst>
          </a:prstGeom>
          <a:solidFill>
            <a:srgbClr val="E6F5F3"/>
          </a:solidFill>
          <a:ln w="12700">
            <a:solidFill>
              <a:srgbClr val="0E7C7B"/>
            </a:solidFill>
            <a:prstDash val="solid"/>
          </a:ln>
        </p:spPr>
        <p:txBody>
          <a:bodyPr/>
          <a:lstStyle/>
          <a:p>
            <a:endParaRPr lang="en-US"/>
          </a:p>
        </p:txBody>
      </p:sp>
      <p:sp>
        <p:nvSpPr>
          <p:cNvPr id="13" name="Text 11"/>
          <p:cNvSpPr/>
          <p:nvPr/>
        </p:nvSpPr>
        <p:spPr>
          <a:xfrm>
            <a:off x="5212080" y="4197096"/>
            <a:ext cx="1389888" cy="365760"/>
          </a:xfrm>
          <a:prstGeom prst="rect">
            <a:avLst/>
          </a:prstGeom>
          <a:noFill/>
          <a:ln/>
        </p:spPr>
        <p:txBody>
          <a:bodyPr wrap="square" lIns="127" tIns="127" rIns="127" bIns="127" rtlCol="0" anchor="ctr">
            <a:normAutofit/>
          </a:bodyPr>
          <a:lstStyle/>
          <a:p>
            <a:pPr marL="0" indent="0">
              <a:buNone/>
            </a:pPr>
            <a:r>
              <a:rPr lang="en-US" sz="1250" b="1" dirty="0">
                <a:solidFill>
                  <a:srgbClr val="0B1F33"/>
                </a:solidFill>
                <a:latin typeface="Aptos" pitchFamily="34" charset="0"/>
                <a:ea typeface="Aptos" pitchFamily="34" charset="-122"/>
                <a:cs typeface="Aptos" pitchFamily="34" charset="-120"/>
              </a:rPr>
              <a:t>3  PRE→POST</a:t>
            </a:r>
            <a:endParaRPr lang="en-US" sz="1250" dirty="0"/>
          </a:p>
        </p:txBody>
      </p:sp>
      <p:sp>
        <p:nvSpPr>
          <p:cNvPr id="14" name="Text 12"/>
          <p:cNvSpPr/>
          <p:nvPr/>
        </p:nvSpPr>
        <p:spPr>
          <a:xfrm>
            <a:off x="5084064" y="4764024"/>
            <a:ext cx="1645920" cy="228600"/>
          </a:xfrm>
          <a:prstGeom prst="rect">
            <a:avLst/>
          </a:prstGeom>
          <a:noFill/>
          <a:ln/>
        </p:spPr>
        <p:txBody>
          <a:bodyPr wrap="square" lIns="0" tIns="0" rIns="0" bIns="0" rtlCol="0" anchor="ctr"/>
          <a:lstStyle/>
          <a:p>
            <a:pPr marL="0" indent="0" algn="ctr">
              <a:buNone/>
            </a:pPr>
            <a:r>
              <a:rPr lang="en-US" sz="1050" dirty="0">
                <a:solidFill>
                  <a:srgbClr val="4B5563"/>
                </a:solidFill>
              </a:rPr>
              <a:t>rehab change</a:t>
            </a:r>
            <a:endParaRPr lang="en-US" sz="1050" dirty="0"/>
          </a:p>
        </p:txBody>
      </p:sp>
      <p:sp>
        <p:nvSpPr>
          <p:cNvPr id="15" name="Shape 13"/>
          <p:cNvSpPr/>
          <p:nvPr/>
        </p:nvSpPr>
        <p:spPr>
          <a:xfrm>
            <a:off x="7168896" y="3575304"/>
            <a:ext cx="1645920" cy="548640"/>
          </a:xfrm>
          <a:prstGeom prst="roundRect">
            <a:avLst>
              <a:gd name="adj" fmla="val 23333"/>
            </a:avLst>
          </a:prstGeom>
          <a:solidFill>
            <a:srgbClr val="E6F5F3"/>
          </a:solidFill>
          <a:ln w="12700">
            <a:solidFill>
              <a:srgbClr val="0E7C7B"/>
            </a:solidFill>
            <a:prstDash val="solid"/>
          </a:ln>
        </p:spPr>
        <p:txBody>
          <a:bodyPr/>
          <a:lstStyle/>
          <a:p>
            <a:endParaRPr lang="en-US"/>
          </a:p>
        </p:txBody>
      </p:sp>
      <p:sp>
        <p:nvSpPr>
          <p:cNvPr id="16" name="Text 14"/>
          <p:cNvSpPr/>
          <p:nvPr/>
        </p:nvSpPr>
        <p:spPr>
          <a:xfrm>
            <a:off x="7296912" y="3666744"/>
            <a:ext cx="1389888" cy="365760"/>
          </a:xfrm>
          <a:prstGeom prst="rect">
            <a:avLst/>
          </a:prstGeom>
          <a:noFill/>
          <a:ln/>
        </p:spPr>
        <p:txBody>
          <a:bodyPr wrap="square" lIns="127" tIns="127" rIns="127" bIns="127" rtlCol="0" anchor="ctr">
            <a:normAutofit/>
          </a:bodyPr>
          <a:lstStyle/>
          <a:p>
            <a:pPr marL="0" indent="0">
              <a:buNone/>
            </a:pPr>
            <a:r>
              <a:rPr lang="en-US" sz="1250" b="1" dirty="0">
                <a:solidFill>
                  <a:srgbClr val="0B1F33"/>
                </a:solidFill>
                <a:latin typeface="Aptos" pitchFamily="34" charset="0"/>
                <a:ea typeface="Aptos" pitchFamily="34" charset="-122"/>
                <a:cs typeface="Aptos" pitchFamily="34" charset="-120"/>
              </a:rPr>
              <a:t>4  Errors</a:t>
            </a:r>
            <a:endParaRPr lang="en-US" sz="1250" dirty="0"/>
          </a:p>
        </p:txBody>
      </p:sp>
      <p:sp>
        <p:nvSpPr>
          <p:cNvPr id="17" name="Text 15"/>
          <p:cNvSpPr/>
          <p:nvPr/>
        </p:nvSpPr>
        <p:spPr>
          <a:xfrm>
            <a:off x="7168896" y="4233672"/>
            <a:ext cx="1645920" cy="228600"/>
          </a:xfrm>
          <a:prstGeom prst="rect">
            <a:avLst/>
          </a:prstGeom>
          <a:noFill/>
          <a:ln/>
        </p:spPr>
        <p:txBody>
          <a:bodyPr wrap="square" lIns="0" tIns="0" rIns="0" bIns="0" rtlCol="0" anchor="ctr"/>
          <a:lstStyle/>
          <a:p>
            <a:pPr marL="0" indent="0" algn="ctr">
              <a:buNone/>
            </a:pPr>
            <a:r>
              <a:rPr lang="en-US" sz="1050" dirty="0">
                <a:solidFill>
                  <a:srgbClr val="4B5563"/>
                </a:solidFill>
              </a:rPr>
              <a:t>class-specific insight</a:t>
            </a:r>
            <a:endParaRPr lang="en-US" sz="1050" dirty="0"/>
          </a:p>
        </p:txBody>
      </p:sp>
      <p:sp>
        <p:nvSpPr>
          <p:cNvPr id="18" name="Shape 16"/>
          <p:cNvSpPr/>
          <p:nvPr/>
        </p:nvSpPr>
        <p:spPr>
          <a:xfrm>
            <a:off x="9253728" y="3044952"/>
            <a:ext cx="1645920" cy="548640"/>
          </a:xfrm>
          <a:prstGeom prst="roundRect">
            <a:avLst>
              <a:gd name="adj" fmla="val 23333"/>
            </a:avLst>
          </a:prstGeom>
          <a:solidFill>
            <a:srgbClr val="FFF0EE"/>
          </a:solidFill>
          <a:ln w="12700">
            <a:solidFill>
              <a:srgbClr val="FF6B5A"/>
            </a:solidFill>
            <a:prstDash val="solid"/>
          </a:ln>
        </p:spPr>
        <p:txBody>
          <a:bodyPr/>
          <a:lstStyle/>
          <a:p>
            <a:endParaRPr lang="en-US"/>
          </a:p>
        </p:txBody>
      </p:sp>
      <p:sp>
        <p:nvSpPr>
          <p:cNvPr id="19" name="Text 17"/>
          <p:cNvSpPr/>
          <p:nvPr/>
        </p:nvSpPr>
        <p:spPr>
          <a:xfrm>
            <a:off x="9381744" y="3136392"/>
            <a:ext cx="1389888" cy="365760"/>
          </a:xfrm>
          <a:prstGeom prst="rect">
            <a:avLst/>
          </a:prstGeom>
          <a:noFill/>
          <a:ln/>
        </p:spPr>
        <p:txBody>
          <a:bodyPr wrap="square" lIns="127" tIns="127" rIns="127" bIns="127" rtlCol="0" anchor="ctr">
            <a:normAutofit/>
          </a:bodyPr>
          <a:lstStyle/>
          <a:p>
            <a:pPr marL="0" indent="0">
              <a:buNone/>
            </a:pPr>
            <a:r>
              <a:rPr lang="en-US" sz="1250" b="1" dirty="0">
                <a:solidFill>
                  <a:srgbClr val="0B1F33"/>
                </a:solidFill>
                <a:latin typeface="Aptos" pitchFamily="34" charset="0"/>
                <a:ea typeface="Aptos" pitchFamily="34" charset="-122"/>
                <a:cs typeface="Aptos" pitchFamily="34" charset="-120"/>
              </a:rPr>
              <a:t>5  Report card</a:t>
            </a:r>
            <a:endParaRPr lang="en-US" sz="1250" dirty="0"/>
          </a:p>
        </p:txBody>
      </p:sp>
      <p:sp>
        <p:nvSpPr>
          <p:cNvPr id="20" name="Text 18"/>
          <p:cNvSpPr/>
          <p:nvPr/>
        </p:nvSpPr>
        <p:spPr>
          <a:xfrm>
            <a:off x="9253728" y="3703320"/>
            <a:ext cx="1645920" cy="228600"/>
          </a:xfrm>
          <a:prstGeom prst="rect">
            <a:avLst/>
          </a:prstGeom>
          <a:noFill/>
          <a:ln/>
        </p:spPr>
        <p:txBody>
          <a:bodyPr wrap="square" lIns="0" tIns="0" rIns="0" bIns="0" rtlCol="0" anchor="ctr"/>
          <a:lstStyle/>
          <a:p>
            <a:pPr marL="0" indent="0" algn="ctr">
              <a:buNone/>
            </a:pPr>
            <a:r>
              <a:rPr lang="en-US" sz="1050" dirty="0">
                <a:solidFill>
                  <a:srgbClr val="4B5563"/>
                </a:solidFill>
              </a:rPr>
              <a:t>actionable decision</a:t>
            </a:r>
            <a:endParaRPr lang="en-US" sz="1050" dirty="0"/>
          </a:p>
        </p:txBody>
      </p:sp>
      <p:sp>
        <p:nvSpPr>
          <p:cNvPr id="21" name="Shape 19"/>
          <p:cNvSpPr/>
          <p:nvPr/>
        </p:nvSpPr>
        <p:spPr>
          <a:xfrm>
            <a:off x="960120" y="2194560"/>
            <a:ext cx="4251960" cy="777240"/>
          </a:xfrm>
          <a:prstGeom prst="roundRect">
            <a:avLst>
              <a:gd name="adj" fmla="val 16471"/>
            </a:avLst>
          </a:prstGeom>
          <a:solidFill>
            <a:srgbClr val="FFFFFF"/>
          </a:solidFill>
          <a:ln w="12700">
            <a:solidFill>
              <a:srgbClr val="E5E7EB"/>
            </a:solidFill>
            <a:prstDash val="solid"/>
          </a:ln>
        </p:spPr>
        <p:txBody>
          <a:bodyPr/>
          <a:lstStyle/>
          <a:p>
            <a:endParaRPr lang="en-US"/>
          </a:p>
        </p:txBody>
      </p:sp>
      <p:sp>
        <p:nvSpPr>
          <p:cNvPr id="22" name="Text 20"/>
          <p:cNvSpPr/>
          <p:nvPr/>
        </p:nvSpPr>
        <p:spPr>
          <a:xfrm>
            <a:off x="1088136" y="2286000"/>
            <a:ext cx="3995928" cy="594360"/>
          </a:xfrm>
          <a:prstGeom prst="rect">
            <a:avLst/>
          </a:prstGeom>
          <a:noFill/>
          <a:ln/>
        </p:spPr>
        <p:txBody>
          <a:bodyPr wrap="square" lIns="127" tIns="127" rIns="127" bIns="127" rtlCol="0" anchor="ctr">
            <a:normAutofit/>
          </a:bodyPr>
          <a:lstStyle/>
          <a:p>
            <a:pPr marL="0" indent="0">
              <a:buNone/>
            </a:pPr>
            <a:r>
              <a:rPr lang="en-US" sz="2000" b="1" dirty="0">
                <a:solidFill>
                  <a:srgbClr val="4B5563"/>
                </a:solidFill>
                <a:latin typeface="Aptos" pitchFamily="34" charset="0"/>
                <a:ea typeface="Aptos" pitchFamily="34" charset="-122"/>
                <a:cs typeface="Aptos" pitchFamily="34" charset="-120"/>
              </a:rPr>
              <a:t>Avoid: “Our model got 78%.”</a:t>
            </a:r>
            <a:endParaRPr lang="en-US" sz="2000" dirty="0"/>
          </a:p>
        </p:txBody>
      </p:sp>
      <p:sp>
        <p:nvSpPr>
          <p:cNvPr id="23" name="Shape 21"/>
          <p:cNvSpPr/>
          <p:nvPr/>
        </p:nvSpPr>
        <p:spPr>
          <a:xfrm>
            <a:off x="6263640" y="2194560"/>
            <a:ext cx="4572000" cy="777240"/>
          </a:xfrm>
          <a:prstGeom prst="roundRect">
            <a:avLst>
              <a:gd name="adj" fmla="val 16471"/>
            </a:avLst>
          </a:prstGeom>
          <a:solidFill>
            <a:srgbClr val="E6F5F3"/>
          </a:solidFill>
          <a:ln w="12700">
            <a:solidFill>
              <a:srgbClr val="0E7C7B"/>
            </a:solidFill>
            <a:prstDash val="solid"/>
          </a:ln>
        </p:spPr>
        <p:txBody>
          <a:bodyPr/>
          <a:lstStyle/>
          <a:p>
            <a:endParaRPr lang="en-US"/>
          </a:p>
        </p:txBody>
      </p:sp>
      <p:sp>
        <p:nvSpPr>
          <p:cNvPr id="24" name="Text 22"/>
          <p:cNvSpPr/>
          <p:nvPr/>
        </p:nvSpPr>
        <p:spPr>
          <a:xfrm>
            <a:off x="6391656" y="2286000"/>
            <a:ext cx="4315968" cy="594360"/>
          </a:xfrm>
          <a:prstGeom prst="rect">
            <a:avLst/>
          </a:prstGeom>
          <a:noFill/>
          <a:ln/>
        </p:spPr>
        <p:txBody>
          <a:bodyPr wrap="square" lIns="127" tIns="127" rIns="127" bIns="127" rtlCol="0" anchor="ctr">
            <a:normAutofit lnSpcReduction="10000"/>
          </a:bodyPr>
          <a:lstStyle/>
          <a:p>
            <a:pPr marL="0" indent="0">
              <a:buNone/>
            </a:pPr>
            <a:r>
              <a:rPr lang="en-US" sz="2000" b="1" dirty="0">
                <a:solidFill>
                  <a:srgbClr val="0B1F33"/>
                </a:solidFill>
                <a:latin typeface="Aptos" pitchFamily="34" charset="0"/>
                <a:ea typeface="Aptos" pitchFamily="34" charset="-122"/>
                <a:cs typeface="Aptos" pitchFamily="34" charset="-120"/>
              </a:rPr>
              <a:t>Say: “POST became reliable enough to trigger feedback.”</a:t>
            </a:r>
            <a:endParaRPr lang="en-US" sz="2000" dirty="0"/>
          </a:p>
        </p:txBody>
      </p:sp>
      <p:sp>
        <p:nvSpPr>
          <p:cNvPr id="25" name="Text 23"/>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The best deck will connect model performance to rehabilitation decisions.</a:t>
            </a:r>
            <a:endParaRPr lang="en-US" sz="740" dirty="0"/>
          </a:p>
        </p:txBody>
      </p:sp>
      <p:sp>
        <p:nvSpPr>
          <p:cNvPr id="26"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USE THIS</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Final slide — closing script and checklist</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6" name="Shape 4"/>
          <p:cNvSpPr/>
          <p:nvPr/>
        </p:nvSpPr>
        <p:spPr>
          <a:xfrm>
            <a:off x="868680" y="1938528"/>
            <a:ext cx="7406640" cy="1920240"/>
          </a:xfrm>
          <a:prstGeom prst="roundRect">
            <a:avLst>
              <a:gd name="adj" fmla="val 6667"/>
            </a:avLst>
          </a:prstGeom>
          <a:solidFill>
            <a:srgbClr val="FFFFFF"/>
          </a:solidFill>
          <a:ln w="12700">
            <a:solidFill>
              <a:srgbClr val="E5E7EB"/>
            </a:solidFill>
            <a:prstDash val="solid"/>
          </a:ln>
        </p:spPr>
        <p:txBody>
          <a:bodyPr/>
          <a:lstStyle/>
          <a:p>
            <a:endParaRPr lang="en-US"/>
          </a:p>
        </p:txBody>
      </p:sp>
      <p:sp>
        <p:nvSpPr>
          <p:cNvPr id="7" name="Text 5"/>
          <p:cNvSpPr/>
          <p:nvPr/>
        </p:nvSpPr>
        <p:spPr>
          <a:xfrm>
            <a:off x="996695" y="2029968"/>
            <a:ext cx="7103695" cy="1737360"/>
          </a:xfrm>
          <a:prstGeom prst="rect">
            <a:avLst/>
          </a:prstGeom>
          <a:noFill/>
          <a:ln/>
        </p:spPr>
        <p:txBody>
          <a:bodyPr wrap="square" lIns="127" tIns="127" rIns="127" bIns="127" rtlCol="0" anchor="ctr">
            <a:normAutofit/>
          </a:bodyPr>
          <a:lstStyle/>
          <a:p>
            <a:pPr marL="0" indent="0">
              <a:buNone/>
            </a:pPr>
            <a:r>
              <a:rPr lang="en-US" sz="1500" dirty="0">
                <a:solidFill>
                  <a:srgbClr val="0B1F33"/>
                </a:solidFill>
                <a:latin typeface="Aptos" pitchFamily="34" charset="0"/>
                <a:ea typeface="Aptos" pitchFamily="34" charset="-122"/>
                <a:cs typeface="Aptos" pitchFamily="34" charset="-120"/>
              </a:rPr>
              <a:t>“We built an interpretable PRE–POST motor imagery pipeline. Our goal was not only to maximize accuracy, but to test whether the BCI becomes reliable enough to deliver meaningful feedback during rehabilitation. By combining accuracy, above-chance testing, class-specific errors, and signal interpretation, we turn EEG decoding into a patient-specific rehab assessment.”</a:t>
            </a:r>
            <a:endParaRPr lang="en-US" sz="1500" dirty="0"/>
          </a:p>
        </p:txBody>
      </p:sp>
      <p:sp>
        <p:nvSpPr>
          <p:cNvPr id="25" name="Text 23"/>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Close with confidence: the output is a tool for interpreting rehab feedback reliability.</a:t>
            </a:r>
            <a:endParaRPr lang="en-US" sz="740" dirty="0"/>
          </a:p>
        </p:txBody>
      </p:sp>
      <p:sp>
        <p:nvSpPr>
          <p:cNvPr id="26"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182880"/>
            <a:ext cx="4389120" cy="219456"/>
          </a:xfrm>
          <a:prstGeom prst="rect">
            <a:avLst/>
          </a:prstGeom>
          <a:noFill/>
          <a:ln/>
        </p:spPr>
        <p:txBody>
          <a:bodyPr wrap="square" lIns="0" tIns="0" rIns="0" bIns="0" rtlCol="0" anchor="ctr">
            <a:normAutofit/>
          </a:bodyPr>
          <a:lstStyle/>
          <a:p>
            <a:pPr marL="0" indent="0">
              <a:buNone/>
            </a:pPr>
            <a:r>
              <a:rPr lang="en-US" sz="800" b="1" dirty="0">
                <a:solidFill>
                  <a:srgbClr val="0E7C7B"/>
                </a:solidFill>
                <a:latin typeface="Aptos" pitchFamily="34" charset="0"/>
                <a:ea typeface="Aptos" pitchFamily="34" charset="-122"/>
                <a:cs typeface="Aptos" pitchFamily="34" charset="-120"/>
              </a:rPr>
              <a:t>SOURCES</a:t>
            </a:r>
            <a:endParaRPr lang="en-US" sz="800" dirty="0"/>
          </a:p>
        </p:txBody>
      </p:sp>
      <p:sp>
        <p:nvSpPr>
          <p:cNvPr id="3" name="Text 1"/>
          <p:cNvSpPr/>
          <p:nvPr/>
        </p:nvSpPr>
        <p:spPr>
          <a:xfrm>
            <a:off x="594360" y="566928"/>
            <a:ext cx="7680960" cy="566928"/>
          </a:xfrm>
          <a:prstGeom prst="rect">
            <a:avLst/>
          </a:prstGeom>
          <a:noFill/>
          <a:ln/>
        </p:spPr>
        <p:txBody>
          <a:bodyPr wrap="square" lIns="127" tIns="127" rIns="127" bIns="127"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Backup: claims you can safely make</a:t>
            </a:r>
            <a:endParaRPr lang="en-US" sz="2700" dirty="0"/>
          </a:p>
        </p:txBody>
      </p:sp>
      <p:sp>
        <p:nvSpPr>
          <p:cNvPr id="4" name="Shape 2"/>
          <p:cNvSpPr/>
          <p:nvPr/>
        </p:nvSpPr>
        <p:spPr>
          <a:xfrm>
            <a:off x="594360" y="1243584"/>
            <a:ext cx="1097280" cy="0"/>
          </a:xfrm>
          <a:prstGeom prst="line">
            <a:avLst/>
          </a:prstGeom>
          <a:noFill/>
          <a:ln w="38100">
            <a:solidFill>
              <a:srgbClr val="FF6B5A"/>
            </a:solidFill>
            <a:prstDash val="solid"/>
          </a:ln>
        </p:spPr>
        <p:txBody>
          <a:bodyPr/>
          <a:lstStyle/>
          <a:p>
            <a:endParaRPr lang="en-US"/>
          </a:p>
        </p:txBody>
      </p:sp>
      <p:sp>
        <p:nvSpPr>
          <p:cNvPr id="5" name="Shape 3"/>
          <p:cNvSpPr/>
          <p:nvPr/>
        </p:nvSpPr>
        <p:spPr>
          <a:xfrm>
            <a:off x="822960" y="1600200"/>
            <a:ext cx="5212080" cy="1417320"/>
          </a:xfrm>
          <a:prstGeom prst="roundRect">
            <a:avLst>
              <a:gd name="adj" fmla="val 9032"/>
            </a:avLst>
          </a:prstGeom>
          <a:solidFill>
            <a:srgbClr val="FFFFFF"/>
          </a:solidFill>
          <a:ln w="12700">
            <a:solidFill>
              <a:srgbClr val="E5E7EB"/>
            </a:solidFill>
            <a:prstDash val="solid"/>
          </a:ln>
        </p:spPr>
        <p:txBody>
          <a:bodyPr/>
          <a:lstStyle/>
          <a:p>
            <a:endParaRPr lang="en-US"/>
          </a:p>
        </p:txBody>
      </p:sp>
      <p:sp>
        <p:nvSpPr>
          <p:cNvPr id="6" name="Text 4"/>
          <p:cNvSpPr/>
          <p:nvPr/>
        </p:nvSpPr>
        <p:spPr>
          <a:xfrm>
            <a:off x="950976" y="1691640"/>
            <a:ext cx="4956048" cy="1234440"/>
          </a:xfrm>
          <a:prstGeom prst="rect">
            <a:avLst/>
          </a:prstGeom>
          <a:noFill/>
          <a:ln/>
        </p:spPr>
        <p:txBody>
          <a:bodyPr wrap="square" lIns="127" tIns="127" rIns="127" bIns="127" rtlCol="0" anchor="ctr">
            <a:normAutofit lnSpcReduction="10000"/>
          </a:bodyPr>
          <a:lstStyle/>
          <a:p>
            <a:pPr marL="0" indent="0">
              <a:buNone/>
            </a:pPr>
            <a:r>
              <a:rPr lang="en-US" sz="1400" dirty="0">
                <a:solidFill>
                  <a:srgbClr val="0B1F33"/>
                </a:solidFill>
                <a:latin typeface="Aptos" pitchFamily="34" charset="0"/>
                <a:ea typeface="Aptos" pitchFamily="34" charset="-122"/>
                <a:cs typeface="Aptos" pitchFamily="34" charset="-120"/>
              </a:rPr>
              <a:t>Dataset context</a:t>
            </a:r>
            <a:endParaRPr lang="en-US" sz="1400" dirty="0"/>
          </a:p>
          <a:p>
            <a:pPr marL="0" indent="0">
              <a:buNone/>
            </a:pP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PRE = first BCI session; POST = last available session</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Each session has TRAINING and TEST runs</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Training calibrates the model; test evaluates real-time performance</a:t>
            </a:r>
            <a:endParaRPr lang="en-US" sz="1400" dirty="0"/>
          </a:p>
        </p:txBody>
      </p:sp>
      <p:sp>
        <p:nvSpPr>
          <p:cNvPr id="7" name="Shape 5"/>
          <p:cNvSpPr/>
          <p:nvPr/>
        </p:nvSpPr>
        <p:spPr>
          <a:xfrm>
            <a:off x="6263640" y="1600200"/>
            <a:ext cx="4846320" cy="1417320"/>
          </a:xfrm>
          <a:prstGeom prst="roundRect">
            <a:avLst>
              <a:gd name="adj" fmla="val 9032"/>
            </a:avLst>
          </a:prstGeom>
          <a:solidFill>
            <a:srgbClr val="FFFFFF"/>
          </a:solidFill>
          <a:ln w="12700">
            <a:solidFill>
              <a:srgbClr val="E5E7EB"/>
            </a:solidFill>
            <a:prstDash val="solid"/>
          </a:ln>
        </p:spPr>
        <p:txBody>
          <a:bodyPr/>
          <a:lstStyle/>
          <a:p>
            <a:endParaRPr lang="en-US"/>
          </a:p>
        </p:txBody>
      </p:sp>
      <p:sp>
        <p:nvSpPr>
          <p:cNvPr id="8" name="Text 6"/>
          <p:cNvSpPr/>
          <p:nvPr/>
        </p:nvSpPr>
        <p:spPr>
          <a:xfrm>
            <a:off x="6391656" y="1691640"/>
            <a:ext cx="4590288" cy="1234440"/>
          </a:xfrm>
          <a:prstGeom prst="rect">
            <a:avLst/>
          </a:prstGeom>
          <a:noFill/>
          <a:ln/>
        </p:spPr>
        <p:txBody>
          <a:bodyPr wrap="square" lIns="127" tIns="127" rIns="127" bIns="127" rtlCol="0" anchor="ctr">
            <a:normAutofit/>
          </a:bodyPr>
          <a:lstStyle/>
          <a:p>
            <a:pPr marL="0" indent="0">
              <a:buNone/>
            </a:pPr>
            <a:r>
              <a:rPr lang="en-US" sz="1400" dirty="0">
                <a:solidFill>
                  <a:srgbClr val="0B1F33"/>
                </a:solidFill>
                <a:latin typeface="Aptos" pitchFamily="34" charset="0"/>
                <a:ea typeface="Aptos" pitchFamily="34" charset="-122"/>
                <a:cs typeface="Aptos" pitchFamily="34" charset="-120"/>
              </a:rPr>
              <a:t>Method context</a:t>
            </a:r>
            <a:endParaRPr lang="en-US" sz="1400" dirty="0"/>
          </a:p>
          <a:p>
            <a:pPr marL="0" indent="0">
              <a:buNone/>
            </a:pP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LDA is simple and robust, but static</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Time-varying discriminative information can matter</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 Whitening/time-aware ideas motivate stronger pipelines</a:t>
            </a:r>
            <a:endParaRPr lang="en-US" sz="1400" dirty="0"/>
          </a:p>
        </p:txBody>
      </p:sp>
      <p:sp>
        <p:nvSpPr>
          <p:cNvPr id="9" name="Shape 7"/>
          <p:cNvSpPr/>
          <p:nvPr/>
        </p:nvSpPr>
        <p:spPr>
          <a:xfrm>
            <a:off x="822960" y="3703320"/>
            <a:ext cx="10287000" cy="1005840"/>
          </a:xfrm>
          <a:prstGeom prst="roundRect">
            <a:avLst>
              <a:gd name="adj" fmla="val 12727"/>
            </a:avLst>
          </a:prstGeom>
          <a:solidFill>
            <a:srgbClr val="FFF0EE"/>
          </a:solidFill>
          <a:ln w="12700">
            <a:solidFill>
              <a:srgbClr val="FF6B5A"/>
            </a:solidFill>
            <a:prstDash val="solid"/>
          </a:ln>
        </p:spPr>
        <p:txBody>
          <a:bodyPr/>
          <a:lstStyle/>
          <a:p>
            <a:endParaRPr lang="en-US"/>
          </a:p>
        </p:txBody>
      </p:sp>
      <p:sp>
        <p:nvSpPr>
          <p:cNvPr id="10" name="Text 8"/>
          <p:cNvSpPr/>
          <p:nvPr/>
        </p:nvSpPr>
        <p:spPr>
          <a:xfrm>
            <a:off x="950976" y="3794760"/>
            <a:ext cx="10030968" cy="822960"/>
          </a:xfrm>
          <a:prstGeom prst="rect">
            <a:avLst/>
          </a:prstGeom>
          <a:noFill/>
          <a:ln/>
        </p:spPr>
        <p:txBody>
          <a:bodyPr wrap="square" lIns="127" tIns="127" rIns="127" bIns="127" rtlCol="0" anchor="ctr">
            <a:normAutofit fontScale="92500" lnSpcReduction="10000"/>
          </a:bodyPr>
          <a:lstStyle/>
          <a:p>
            <a:pPr marL="0" indent="0">
              <a:buNone/>
            </a:pPr>
            <a:r>
              <a:rPr lang="en-US" sz="1500" b="1" dirty="0">
                <a:solidFill>
                  <a:srgbClr val="0B1F33"/>
                </a:solidFill>
                <a:latin typeface="Aptos" pitchFamily="34" charset="0"/>
                <a:ea typeface="Aptos" pitchFamily="34" charset="-122"/>
                <a:cs typeface="Aptos" pitchFamily="34" charset="-120"/>
              </a:rPr>
              <a:t>Important nuance</a:t>
            </a:r>
            <a:endParaRPr lang="en-US" sz="1500" dirty="0"/>
          </a:p>
          <a:p>
            <a:pPr marL="0" indent="0">
              <a:buNone/>
            </a:pPr>
            <a:endParaRPr lang="en-US" sz="1500" dirty="0"/>
          </a:p>
          <a:p>
            <a:pPr marL="0" indent="0">
              <a:buNone/>
            </a:pPr>
            <a:r>
              <a:rPr lang="en-US" sz="1500" b="1" dirty="0">
                <a:solidFill>
                  <a:srgbClr val="0B1F33"/>
                </a:solidFill>
                <a:latin typeface="Aptos" pitchFamily="34" charset="0"/>
                <a:ea typeface="Aptos" pitchFamily="34" charset="-122"/>
                <a:cs typeface="Aptos" pitchFamily="34" charset="-120"/>
              </a:rPr>
              <a:t>The provided TVLDA paper studies invasive ECoG and high-gamma activity. Your hackathon dataset is EEG motor imagery, so use the paper for methodological framing, not as a direct performance benchmark.</a:t>
            </a:r>
            <a:endParaRPr lang="en-US" sz="1500" dirty="0"/>
          </a:p>
        </p:txBody>
      </p:sp>
      <p:sp>
        <p:nvSpPr>
          <p:cNvPr id="11" name="Text 9"/>
          <p:cNvSpPr/>
          <p:nvPr/>
        </p:nvSpPr>
        <p:spPr>
          <a:xfrm>
            <a:off x="594360" y="6620256"/>
            <a:ext cx="9875520" cy="155448"/>
          </a:xfrm>
          <a:prstGeom prst="rect">
            <a:avLst/>
          </a:prstGeom>
          <a:noFill/>
          <a:ln/>
        </p:spPr>
        <p:txBody>
          <a:bodyPr wrap="square" lIns="0" tIns="0" rIns="0" bIns="0" rtlCol="0" anchor="ctr">
            <a:normAutofit/>
          </a:bodyPr>
          <a:lstStyle/>
          <a:p>
            <a:pPr marL="0" indent="0">
              <a:buNone/>
            </a:pPr>
            <a:r>
              <a:rPr lang="en-US" sz="740" dirty="0">
                <a:solidFill>
                  <a:srgbClr val="FFFFFF"/>
                </a:solidFill>
                <a:latin typeface="Aptos" pitchFamily="34" charset="0"/>
                <a:ea typeface="Aptos" pitchFamily="34" charset="-122"/>
                <a:cs typeface="Aptos" pitchFamily="34" charset="-120"/>
              </a:rPr>
              <a:t>Use this as backup if judges ask about sources or scientific grounding.</a:t>
            </a:r>
            <a:endParaRPr lang="en-US" sz="740" dirty="0"/>
          </a:p>
        </p:txBody>
      </p:sp>
      <p:sp>
        <p:nvSpPr>
          <p:cNvPr id="25" name="Slide Number Placeholder 0"/>
          <p:cNvSpPr>
            <a:spLocks noGrp="1"/>
          </p:cNvSpPr>
          <p:nvPr>
            <p:ph type="sldNum" sz="quarter" idx="4294967295"/>
          </p:nvPr>
        </p:nvSpPr>
        <p:spPr>
          <a:xfrm>
            <a:off x="11430000" y="661111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1738</Words>
  <Application>Microsoft Macintosh PowerPoint</Application>
  <PresentationFormat>Widescreen</PresentationFormat>
  <Paragraphs>279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Stroke Rehab BCI Hackathon PowerPoint Guide</dc:title>
  <dc:subject>PowerPoint guide for stroke rehab BCI hackathon presentation</dc:subject>
  <dc:creator>OpenAI</dc:creator>
  <cp:lastModifiedBy>Thibaud Delavy</cp:lastModifiedBy>
  <cp:revision>2</cp:revision>
  <dcterms:created xsi:type="dcterms:W3CDTF">2026-04-25T17:41:35Z</dcterms:created>
  <dcterms:modified xsi:type="dcterms:W3CDTF">2026-04-25T17:49:28Z</dcterms:modified>
</cp:coreProperties>
</file>